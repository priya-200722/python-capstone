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Bell M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954905-AB05-4AE9-A14F-3B18AB3E6D23}">
  <a:tblStyle styleId="{36954905-AB05-4AE9-A14F-3B18AB3E6D2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061B6A7-0134-4AAD-AF7E-146F03DDB320}"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BellMT-bold.fntdata"/><Relationship Id="rId10" Type="http://schemas.openxmlformats.org/officeDocument/2006/relationships/slide" Target="slides/slide4.xml"/><Relationship Id="rId21" Type="http://schemas.openxmlformats.org/officeDocument/2006/relationships/font" Target="fonts/BellMT-regular.fntdata"/><Relationship Id="rId13" Type="http://schemas.openxmlformats.org/officeDocument/2006/relationships/slide" Target="slides/slide7.xml"/><Relationship Id="rId24" Type="http://schemas.openxmlformats.org/officeDocument/2006/relationships/font" Target="fonts/BellMT-boldItalic.fntdata"/><Relationship Id="rId12" Type="http://schemas.openxmlformats.org/officeDocument/2006/relationships/slide" Target="slides/slide6.xml"/><Relationship Id="rId23" Type="http://schemas.openxmlformats.org/officeDocument/2006/relationships/font" Target="fonts/BellM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5c367832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5c36783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76561bdf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f76561bd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76561bdf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f76561bdf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f76561bdf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f76561bdf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76561bdfa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76561bdf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4" name="Google Shape;14;p2"/>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7"/>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4"/>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1" y="1709740"/>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831851" y="4589465"/>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5"/>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7"/>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6"/>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7"/>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839789"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7"/>
          <p:cNvSpPr txBox="1"/>
          <p:nvPr>
            <p:ph idx="2" type="body"/>
          </p:nvPr>
        </p:nvSpPr>
        <p:spPr>
          <a:xfrm>
            <a:off x="839789"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7"/>
          <p:cNvSpPr txBox="1"/>
          <p:nvPr>
            <p:ph idx="3" type="body"/>
          </p:nvPr>
        </p:nvSpPr>
        <p:spPr>
          <a:xfrm>
            <a:off x="6172201"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7"/>
          <p:cNvSpPr txBox="1"/>
          <p:nvPr>
            <p:ph idx="4" type="body"/>
          </p:nvPr>
        </p:nvSpPr>
        <p:spPr>
          <a:xfrm>
            <a:off x="6172201"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7"/>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7"/>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5183188" y="987427"/>
            <a:ext cx="6172200" cy="48735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7" name="Google Shape;57;p9"/>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8" name="Google Shape;58;p9"/>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5183188" y="987427"/>
            <a:ext cx="6172200" cy="4873500"/>
          </a:xfrm>
          <a:prstGeom prst="rect">
            <a:avLst/>
          </a:prstGeom>
          <a:noFill/>
          <a:ln>
            <a:noFill/>
          </a:ln>
        </p:spPr>
      </p:sp>
      <p:sp>
        <p:nvSpPr>
          <p:cNvPr id="64" name="Google Shape;64;p1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5" name="Google Shape;65;p10"/>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7"/>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1" name="Google Shape;71;p11"/>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01" y="1956626"/>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1799401"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12"/>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3" name="Google Shape;9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5" name="Google Shape;10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2" name="Google Shape;132;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3" name="Google Shape;1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2"/>
          <p:cNvSpPr/>
          <p:nvPr>
            <p:ph idx="2" type="pic"/>
          </p:nvPr>
        </p:nvSpPr>
        <p:spPr>
          <a:xfrm>
            <a:off x="5183188" y="987425"/>
            <a:ext cx="6172200" cy="4873625"/>
          </a:xfrm>
          <a:prstGeom prst="rect">
            <a:avLst/>
          </a:prstGeom>
          <a:noFill/>
          <a:ln>
            <a:noFill/>
          </a:ln>
        </p:spPr>
      </p:sp>
      <p:sp>
        <p:nvSpPr>
          <p:cNvPr id="139" name="Google Shape;139;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0" name="Google Shape;14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7"/>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2"/>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2"/>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13.png"/><Relationship Id="rId13" Type="http://schemas.openxmlformats.org/officeDocument/2006/relationships/image" Target="../media/image15.png"/><Relationship Id="rId12" Type="http://schemas.openxmlformats.org/officeDocument/2006/relationships/image" Target="../media/image16.png"/><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4.jpg"/><Relationship Id="rId9" Type="http://schemas.openxmlformats.org/officeDocument/2006/relationships/image" Target="../media/image5.png"/><Relationship Id="rId1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6.png"/><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25"/>
          <p:cNvSpPr txBox="1"/>
          <p:nvPr>
            <p:ph type="ctrTitle"/>
          </p:nvPr>
        </p:nvSpPr>
        <p:spPr>
          <a:xfrm>
            <a:off x="1924638" y="1731760"/>
            <a:ext cx="8205900" cy="1281300"/>
          </a:xfrm>
          <a:prstGeom prst="rect">
            <a:avLst/>
          </a:prstGeom>
          <a:solidFill>
            <a:srgbClr val="FFFFFF"/>
          </a:solidFill>
          <a:ln cap="flat" cmpd="sng" w="25400">
            <a:solidFill>
              <a:srgbClr val="4F81BD"/>
            </a:solidFill>
            <a:prstDash val="solid"/>
            <a:miter lim="0"/>
            <a:headEnd len="sm" w="sm" type="none"/>
            <a:tailEnd len="sm" w="sm" type="none"/>
          </a:ln>
          <a:effectLst>
            <a:outerShdw blurRad="50800" rotWithShape="0" algn="tl" dir="2700000" dist="38100">
              <a:srgbClr val="000000">
                <a:alpha val="39608"/>
              </a:srgbClr>
            </a:outerShdw>
          </a:effectLst>
        </p:spPr>
        <p:txBody>
          <a:bodyPr anchorCtr="0" anchor="ctr" bIns="45700" lIns="91425" spcFirstLastPara="1" rIns="91425" wrap="square" tIns="45700">
            <a:noAutofit/>
          </a:bodyPr>
          <a:lstStyle/>
          <a:p>
            <a:pPr indent="0" lvl="0" marL="0" rtl="0" algn="ctr">
              <a:lnSpc>
                <a:spcPct val="90000"/>
              </a:lnSpc>
              <a:spcBef>
                <a:spcPts val="1200"/>
              </a:spcBef>
              <a:spcAft>
                <a:spcPts val="0"/>
              </a:spcAft>
              <a:buSzPts val="4400"/>
              <a:buNone/>
            </a:pPr>
            <a:r>
              <a:rPr b="1" lang="en-US" sz="2000">
                <a:latin typeface="Times New Roman"/>
                <a:ea typeface="Times New Roman"/>
                <a:cs typeface="Times New Roman"/>
                <a:sym typeface="Times New Roman"/>
              </a:rPr>
              <a:t>An AI-Based Smart Emergency Crowd Alert System for Real-Time Crowd Density Monitoring and Risk Prediction Using Computer Vision </a:t>
            </a:r>
            <a:endParaRPr sz="2900">
              <a:latin typeface="Times New Roman"/>
              <a:ea typeface="Times New Roman"/>
              <a:cs typeface="Times New Roman"/>
              <a:sym typeface="Times New Roman"/>
            </a:endParaRPr>
          </a:p>
        </p:txBody>
      </p:sp>
      <p:sp>
        <p:nvSpPr>
          <p:cNvPr descr="*#TXT_SIGN#_OTHER*" id="160" name="Google Shape;160;p25"/>
          <p:cNvSpPr txBox="1"/>
          <p:nvPr>
            <p:ph idx="1" type="subTitle"/>
          </p:nvPr>
        </p:nvSpPr>
        <p:spPr>
          <a:xfrm>
            <a:off x="6303625" y="4659750"/>
            <a:ext cx="4192500" cy="1400400"/>
          </a:xfrm>
          <a:prstGeom prst="rect">
            <a:avLst/>
          </a:prstGeom>
          <a:solidFill>
            <a:schemeClr val="lt1"/>
          </a:solidFill>
          <a:ln cap="flat" cmpd="sng" w="12700">
            <a:solidFill>
              <a:schemeClr val="accent1"/>
            </a:solidFill>
            <a:prstDash val="solid"/>
            <a:miter lim="0"/>
            <a:headEnd len="sm" w="sm" type="none"/>
            <a:tailEnd len="sm" w="sm" type="none"/>
          </a:ln>
        </p:spPr>
        <p:txBody>
          <a:bodyPr anchorCtr="0" anchor="t" bIns="45700" lIns="91425" spcFirstLastPara="1" rIns="91425" wrap="square" tIns="45700">
            <a:normAutofit lnSpcReduction="10000"/>
          </a:bodyPr>
          <a:lstStyle/>
          <a:p>
            <a:pPr indent="0" lvl="0" marL="0" rtl="0" algn="l">
              <a:lnSpc>
                <a:spcPct val="80000"/>
              </a:lnSpc>
              <a:spcBef>
                <a:spcPts val="0"/>
              </a:spcBef>
              <a:spcAft>
                <a:spcPts val="0"/>
              </a:spcAft>
              <a:buClr>
                <a:srgbClr val="000000"/>
              </a:buClr>
              <a:buSzPts val="2400"/>
              <a:buNone/>
            </a:pPr>
            <a:r>
              <a:rPr b="1" lang="en-US" sz="2020">
                <a:solidFill>
                  <a:srgbClr val="000000"/>
                </a:solidFill>
                <a:latin typeface="Times New Roman"/>
                <a:ea typeface="Times New Roman"/>
                <a:cs typeface="Times New Roman"/>
                <a:sym typeface="Times New Roman"/>
              </a:rPr>
              <a:t>PRESENTED BY:</a:t>
            </a:r>
            <a:endParaRPr b="1" sz="2020">
              <a:solidFill>
                <a:srgbClr val="000000"/>
              </a:solidFill>
              <a:latin typeface="Times New Roman"/>
              <a:ea typeface="Times New Roman"/>
              <a:cs typeface="Times New Roman"/>
              <a:sym typeface="Times New Roman"/>
            </a:endParaRPr>
          </a:p>
          <a:p>
            <a:pPr indent="0" lvl="0" marL="0" rtl="0" algn="l">
              <a:lnSpc>
                <a:spcPct val="80000"/>
              </a:lnSpc>
              <a:spcBef>
                <a:spcPts val="0"/>
              </a:spcBef>
              <a:spcAft>
                <a:spcPts val="0"/>
              </a:spcAft>
              <a:buClr>
                <a:srgbClr val="000000"/>
              </a:buClr>
              <a:buSzPts val="2400"/>
              <a:buNone/>
            </a:pPr>
            <a:r>
              <a:t/>
            </a:r>
            <a:endParaRPr b="1" sz="2020">
              <a:solidFill>
                <a:srgbClr val="000000"/>
              </a:solidFill>
              <a:latin typeface="Times New Roman"/>
              <a:ea typeface="Times New Roman"/>
              <a:cs typeface="Times New Roman"/>
              <a:sym typeface="Times New Roman"/>
            </a:endParaRPr>
          </a:p>
          <a:p>
            <a:pPr indent="0" lvl="0" marL="0" rtl="0" algn="l">
              <a:lnSpc>
                <a:spcPct val="80000"/>
              </a:lnSpc>
              <a:spcBef>
                <a:spcPts val="480"/>
              </a:spcBef>
              <a:spcAft>
                <a:spcPts val="0"/>
              </a:spcAft>
              <a:buClr>
                <a:srgbClr val="000000"/>
              </a:buClr>
              <a:buSzPts val="2400"/>
              <a:buNone/>
            </a:pPr>
            <a:r>
              <a:rPr lang="en-US" sz="2020">
                <a:solidFill>
                  <a:srgbClr val="000000"/>
                </a:solidFill>
                <a:latin typeface="Times New Roman"/>
                <a:ea typeface="Times New Roman"/>
                <a:cs typeface="Times New Roman"/>
                <a:sym typeface="Times New Roman"/>
              </a:rPr>
              <a:t>VIJIYA PRIYA S.A(192524417)</a:t>
            </a:r>
            <a:endParaRPr sz="2020">
              <a:solidFill>
                <a:srgbClr val="000000"/>
              </a:solidFill>
              <a:latin typeface="Times New Roman"/>
              <a:ea typeface="Times New Roman"/>
              <a:cs typeface="Times New Roman"/>
              <a:sym typeface="Times New Roman"/>
            </a:endParaRPr>
          </a:p>
          <a:p>
            <a:pPr indent="0" lvl="0" marL="0" rtl="0" algn="l">
              <a:lnSpc>
                <a:spcPct val="80000"/>
              </a:lnSpc>
              <a:spcBef>
                <a:spcPts val="480"/>
              </a:spcBef>
              <a:spcAft>
                <a:spcPts val="0"/>
              </a:spcAft>
              <a:buClr>
                <a:srgbClr val="000000"/>
              </a:buClr>
              <a:buSzPts val="2400"/>
              <a:buNone/>
            </a:pPr>
            <a:r>
              <a:rPr lang="en-US" sz="2020">
                <a:solidFill>
                  <a:srgbClr val="000000"/>
                </a:solidFill>
                <a:latin typeface="Times New Roman"/>
                <a:ea typeface="Times New Roman"/>
                <a:cs typeface="Times New Roman"/>
                <a:sym typeface="Times New Roman"/>
              </a:rPr>
              <a:t>HARINI SREE J (192521189)</a:t>
            </a:r>
            <a:endParaRPr sz="2020">
              <a:solidFill>
                <a:srgbClr val="000000"/>
              </a:solidFill>
              <a:latin typeface="Times New Roman"/>
              <a:ea typeface="Times New Roman"/>
              <a:cs typeface="Times New Roman"/>
              <a:sym typeface="Times New Roman"/>
            </a:endParaRPr>
          </a:p>
          <a:p>
            <a:pPr indent="0" lvl="0" marL="0" rtl="0" algn="l">
              <a:lnSpc>
                <a:spcPct val="80000"/>
              </a:lnSpc>
              <a:spcBef>
                <a:spcPts val="480"/>
              </a:spcBef>
              <a:spcAft>
                <a:spcPts val="0"/>
              </a:spcAft>
              <a:buClr>
                <a:srgbClr val="000000"/>
              </a:buClr>
              <a:buSzPts val="2400"/>
              <a:buNone/>
            </a:pPr>
            <a:r>
              <a:rPr lang="en-US" sz="2020">
                <a:solidFill>
                  <a:srgbClr val="000000"/>
                </a:solidFill>
                <a:latin typeface="Times New Roman"/>
                <a:ea typeface="Times New Roman"/>
                <a:cs typeface="Times New Roman"/>
                <a:sym typeface="Times New Roman"/>
              </a:rPr>
              <a:t>VAISHNAVI D (192524143)</a:t>
            </a:r>
            <a:endParaRPr sz="2020">
              <a:solidFill>
                <a:srgbClr val="000000"/>
              </a:solidFill>
              <a:latin typeface="Times New Roman"/>
              <a:ea typeface="Times New Roman"/>
              <a:cs typeface="Times New Roman"/>
              <a:sym typeface="Times New Roman"/>
            </a:endParaRPr>
          </a:p>
        </p:txBody>
      </p:sp>
      <p:sp>
        <p:nvSpPr>
          <p:cNvPr id="161" name="Google Shape;161;p25"/>
          <p:cNvSpPr txBox="1"/>
          <p:nvPr/>
        </p:nvSpPr>
        <p:spPr>
          <a:xfrm>
            <a:off x="1735789" y="3454646"/>
            <a:ext cx="85836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CSA 0808 – PYTHON PROGRAMMING </a:t>
            </a:r>
            <a:endParaRPr b="1" i="0" sz="2800" u="none" cap="none" strike="noStrike">
              <a:solidFill>
                <a:schemeClr val="dk1"/>
              </a:solidFill>
              <a:latin typeface="Times New Roman"/>
              <a:ea typeface="Times New Roman"/>
              <a:cs typeface="Times New Roman"/>
              <a:sym typeface="Times New Roman"/>
            </a:endParaRPr>
          </a:p>
        </p:txBody>
      </p:sp>
      <p:pic>
        <p:nvPicPr>
          <p:cNvPr id="162" name="Google Shape;162;p25"/>
          <p:cNvPicPr preferRelativeResize="0"/>
          <p:nvPr/>
        </p:nvPicPr>
        <p:blipFill rotWithShape="1">
          <a:blip r:embed="rId3">
            <a:alphaModFix/>
          </a:blip>
          <a:srcRect b="0" l="0" r="0" t="0"/>
          <a:stretch/>
        </p:blipFill>
        <p:spPr>
          <a:xfrm>
            <a:off x="9533256" y="70525"/>
            <a:ext cx="1134745" cy="1342390"/>
          </a:xfrm>
          <a:prstGeom prst="rect">
            <a:avLst/>
          </a:prstGeom>
          <a:noFill/>
          <a:ln>
            <a:noFill/>
          </a:ln>
        </p:spPr>
      </p:pic>
      <p:pic>
        <p:nvPicPr>
          <p:cNvPr id="163" name="Google Shape;163;p25"/>
          <p:cNvPicPr preferRelativeResize="0"/>
          <p:nvPr/>
        </p:nvPicPr>
        <p:blipFill rotWithShape="1">
          <a:blip r:embed="rId4">
            <a:alphaModFix/>
          </a:blip>
          <a:srcRect b="-52625" l="11559" r="0" t="0"/>
          <a:stretch/>
        </p:blipFill>
        <p:spPr>
          <a:xfrm>
            <a:off x="3217889" y="320669"/>
            <a:ext cx="6017008" cy="1197220"/>
          </a:xfrm>
          <a:prstGeom prst="rect">
            <a:avLst/>
          </a:prstGeom>
          <a:noFill/>
          <a:ln>
            <a:noFill/>
          </a:ln>
        </p:spPr>
      </p:pic>
      <p:pic>
        <p:nvPicPr>
          <p:cNvPr id="164" name="Google Shape;164;p25"/>
          <p:cNvPicPr preferRelativeResize="0"/>
          <p:nvPr/>
        </p:nvPicPr>
        <p:blipFill rotWithShape="1">
          <a:blip r:embed="rId5">
            <a:alphaModFix/>
          </a:blip>
          <a:srcRect b="0" l="0" r="0" t="0"/>
          <a:stretch/>
        </p:blipFill>
        <p:spPr>
          <a:xfrm>
            <a:off x="1538501" y="70528"/>
            <a:ext cx="1519555" cy="1342390"/>
          </a:xfrm>
          <a:prstGeom prst="rect">
            <a:avLst/>
          </a:prstGeom>
          <a:noFill/>
          <a:ln>
            <a:noFill/>
          </a:ln>
        </p:spPr>
      </p:pic>
      <p:sp>
        <p:nvSpPr>
          <p:cNvPr id="165" name="Google Shape;165;p25"/>
          <p:cNvSpPr txBox="1"/>
          <p:nvPr/>
        </p:nvSpPr>
        <p:spPr>
          <a:xfrm>
            <a:off x="1696000" y="4671484"/>
            <a:ext cx="4345800" cy="831000"/>
          </a:xfrm>
          <a:prstGeom prst="rect">
            <a:avLst/>
          </a:prstGeom>
          <a:solidFill>
            <a:schemeClr val="lt1"/>
          </a:solidFill>
          <a:ln cap="flat" cmpd="sng" w="12700">
            <a:solidFill>
              <a:schemeClr val="accent1"/>
            </a:solidFill>
            <a:prstDash val="solid"/>
            <a:miter lim="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UNDER THE GUIDANCE OF: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Dr. PONMANIRAJ</a:t>
            </a:r>
            <a:r>
              <a:rPr lang="en-US" sz="2400">
                <a:solidFill>
                  <a:schemeClr val="dk1"/>
                </a:solidFill>
                <a:latin typeface="Times New Roman"/>
                <a:ea typeface="Times New Roman"/>
                <a:cs typeface="Times New Roman"/>
                <a:sym typeface="Times New Roman"/>
              </a:rPr>
              <a:t>.</a:t>
            </a:r>
            <a:r>
              <a:rPr b="0" i="0" lang="en-US" sz="2400" u="none" cap="none" strike="noStrike">
                <a:solidFill>
                  <a:schemeClr val="dk1"/>
                </a:solidFill>
                <a:latin typeface="Times New Roman"/>
                <a:ea typeface="Times New Roman"/>
                <a:cs typeface="Times New Roman"/>
                <a:sym typeface="Times New Roman"/>
              </a:rPr>
              <a:t>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nvSpPr>
        <p:spPr>
          <a:xfrm>
            <a:off x="406400" y="277091"/>
            <a:ext cx="10631100" cy="75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1" i="0" lang="en-US" sz="4300" u="none" cap="none" strike="noStrike">
                <a:solidFill>
                  <a:schemeClr val="dk1"/>
                </a:solidFill>
                <a:latin typeface="Bell MT"/>
                <a:ea typeface="Bell MT"/>
                <a:cs typeface="Bell MT"/>
                <a:sym typeface="Bell MT"/>
              </a:rPr>
              <a:t>ABSTRACT</a:t>
            </a:r>
            <a:endParaRPr b="1" i="0" sz="4300" u="none" cap="none" strike="noStrike">
              <a:solidFill>
                <a:schemeClr val="dk1"/>
              </a:solidFill>
              <a:latin typeface="Bell MT"/>
              <a:ea typeface="Bell MT"/>
              <a:cs typeface="Bell MT"/>
              <a:sym typeface="Bell MT"/>
            </a:endParaRPr>
          </a:p>
        </p:txBody>
      </p:sp>
      <p:sp>
        <p:nvSpPr>
          <p:cNvPr id="171" name="Google Shape;171;p26"/>
          <p:cNvSpPr txBox="1"/>
          <p:nvPr/>
        </p:nvSpPr>
        <p:spPr>
          <a:xfrm>
            <a:off x="1283854" y="1339273"/>
            <a:ext cx="9088582" cy="369332"/>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26"/>
          <p:cNvSpPr txBox="1"/>
          <p:nvPr/>
        </p:nvSpPr>
        <p:spPr>
          <a:xfrm>
            <a:off x="623800" y="1567000"/>
            <a:ext cx="10971300" cy="50919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1200"/>
              </a:spcBef>
              <a:spcAft>
                <a:spcPts val="0"/>
              </a:spcAft>
              <a:buClr>
                <a:schemeClr val="dk1"/>
              </a:buClr>
              <a:buSzPts val="1100"/>
              <a:buFont typeface="Arial"/>
              <a:buNone/>
            </a:pPr>
            <a:r>
              <a:rPr lang="en-US" sz="2600">
                <a:solidFill>
                  <a:schemeClr val="dk1"/>
                </a:solidFill>
                <a:latin typeface="Times New Roman"/>
                <a:ea typeface="Times New Roman"/>
                <a:cs typeface="Times New Roman"/>
                <a:sym typeface="Times New Roman"/>
              </a:rPr>
              <a:t>Large public gatherings often face overcrowding and various safety risks. The proposed system uses Artificial Intelligence (AI) and Computer Vision to monitor crowds in real time. CCTV cameras capture live video streams, while the AI system detects people and estimates crowd density accurately. It can identify and predict potential crowd-related risks before emergencies occur, allowing authorities to take preventive action. When a critical situation is detected, automatic alerts are sent to security personnel and emergency responders for quick action. This solution enhances public safety, reduces the risk of crowd-related incidents, and supports efficient smart city surveillance.</a:t>
            </a:r>
            <a:endParaRPr sz="2600">
              <a:solidFill>
                <a:schemeClr val="dk1"/>
              </a:solidFill>
              <a:latin typeface="Times New Roman"/>
              <a:ea typeface="Times New Roman"/>
              <a:cs typeface="Times New Roman"/>
              <a:sym typeface="Times New Roman"/>
            </a:endParaRPr>
          </a:p>
          <a:p>
            <a:pPr indent="-120650" lvl="0" marL="285750" marR="0" rtl="0" algn="just">
              <a:lnSpc>
                <a:spcPct val="150000"/>
              </a:lnSpc>
              <a:spcBef>
                <a:spcPts val="1200"/>
              </a:spcBef>
              <a:spcAft>
                <a:spcPts val="0"/>
              </a:spcAft>
              <a:buClr>
                <a:schemeClr val="dk1"/>
              </a:buClr>
              <a:buSzPts val="2600"/>
              <a:buFont typeface="Arial"/>
              <a:buNone/>
            </a:pPr>
            <a:r>
              <a:t/>
            </a:r>
            <a:endParaRPr sz="2600">
              <a:solidFill>
                <a:schemeClr val="dk1"/>
              </a:solidFill>
              <a:latin typeface="Times New Roman"/>
              <a:ea typeface="Times New Roman"/>
              <a:cs typeface="Times New Roman"/>
              <a:sym typeface="Times New Roman"/>
            </a:endParaRPr>
          </a:p>
        </p:txBody>
      </p:sp>
      <p:pic>
        <p:nvPicPr>
          <p:cNvPr id="173" name="Google Shape;173;p26"/>
          <p:cNvPicPr preferRelativeResize="0"/>
          <p:nvPr/>
        </p:nvPicPr>
        <p:blipFill rotWithShape="1">
          <a:blip r:embed="rId3">
            <a:alphaModFix/>
          </a:blip>
          <a:srcRect b="0" l="0" r="0" t="0"/>
          <a:stretch/>
        </p:blipFill>
        <p:spPr>
          <a:xfrm>
            <a:off x="406400" y="170623"/>
            <a:ext cx="1045172" cy="923325"/>
          </a:xfrm>
          <a:prstGeom prst="rect">
            <a:avLst/>
          </a:prstGeom>
          <a:noFill/>
          <a:ln>
            <a:noFill/>
          </a:ln>
        </p:spPr>
      </p:pic>
      <p:pic>
        <p:nvPicPr>
          <p:cNvPr id="174" name="Google Shape;174;p26"/>
          <p:cNvPicPr preferRelativeResize="0"/>
          <p:nvPr/>
        </p:nvPicPr>
        <p:blipFill rotWithShape="1">
          <a:blip r:embed="rId4">
            <a:alphaModFix/>
          </a:blip>
          <a:srcRect b="0" l="0" r="0" t="0"/>
          <a:stretch/>
        </p:blipFill>
        <p:spPr>
          <a:xfrm>
            <a:off x="10925150" y="111925"/>
            <a:ext cx="927295" cy="923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nvSpPr>
        <p:spPr>
          <a:xfrm>
            <a:off x="1422400" y="228600"/>
            <a:ext cx="8623200" cy="75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1" i="0" lang="en-US" sz="4300" u="none" cap="none" strike="noStrike">
                <a:solidFill>
                  <a:schemeClr val="dk1"/>
                </a:solidFill>
                <a:latin typeface="Bell MT"/>
                <a:ea typeface="Bell MT"/>
                <a:cs typeface="Bell MT"/>
                <a:sym typeface="Bell MT"/>
              </a:rPr>
              <a:t>INTRODUCTION</a:t>
            </a:r>
            <a:endParaRPr b="1" i="0" sz="4300" u="none" cap="none" strike="noStrike">
              <a:solidFill>
                <a:schemeClr val="dk1"/>
              </a:solidFill>
              <a:latin typeface="Bell MT"/>
              <a:ea typeface="Bell MT"/>
              <a:cs typeface="Bell MT"/>
              <a:sym typeface="Bell MT"/>
            </a:endParaRPr>
          </a:p>
        </p:txBody>
      </p:sp>
      <p:sp>
        <p:nvSpPr>
          <p:cNvPr id="180" name="Google Shape;180;p27"/>
          <p:cNvSpPr/>
          <p:nvPr/>
        </p:nvSpPr>
        <p:spPr>
          <a:xfrm>
            <a:off x="1054100" y="1320093"/>
            <a:ext cx="10769599" cy="5421933"/>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Crowd management is a major challenge in public places and large events.</a:t>
            </a:r>
            <a:endParaRPr b="0" i="0" sz="26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Overcrowding can lead to stampedes, panic, injuries, and loss of life.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Traditional monitoring relies on manual surveillance, which may miss critical situations.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AI and Computer Vision provide automated and accurate crowd analysis.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Real-time video analytics help identify overcrowded areas instantly.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Predictive technology enables authorities to take preventive action before emergencies. </a:t>
            </a:r>
            <a:endParaRPr b="0" i="0" sz="1400" u="none" cap="none" strike="noStrike">
              <a:solidFill>
                <a:srgbClr val="000000"/>
              </a:solidFill>
              <a:latin typeface="Arial"/>
              <a:ea typeface="Arial"/>
              <a:cs typeface="Arial"/>
              <a:sym typeface="Arial"/>
            </a:endParaRPr>
          </a:p>
          <a:p>
            <a:pPr indent="0" lvl="0" marL="457200" marR="0" rtl="0" algn="just">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 name="Google Shape;181;p27"/>
          <p:cNvPicPr preferRelativeResize="0"/>
          <p:nvPr/>
        </p:nvPicPr>
        <p:blipFill rotWithShape="1">
          <a:blip r:embed="rId3">
            <a:alphaModFix/>
          </a:blip>
          <a:srcRect b="0" l="0" r="0" t="0"/>
          <a:stretch/>
        </p:blipFill>
        <p:spPr>
          <a:xfrm>
            <a:off x="204600" y="228598"/>
            <a:ext cx="1045172" cy="923325"/>
          </a:xfrm>
          <a:prstGeom prst="rect">
            <a:avLst/>
          </a:prstGeom>
          <a:noFill/>
          <a:ln>
            <a:noFill/>
          </a:ln>
        </p:spPr>
      </p:pic>
      <p:pic>
        <p:nvPicPr>
          <p:cNvPr id="182" name="Google Shape;182;p27"/>
          <p:cNvPicPr preferRelativeResize="0"/>
          <p:nvPr/>
        </p:nvPicPr>
        <p:blipFill rotWithShape="1">
          <a:blip r:embed="rId4">
            <a:alphaModFix/>
          </a:blip>
          <a:srcRect b="0" l="0" r="0" t="0"/>
          <a:stretch/>
        </p:blipFill>
        <p:spPr>
          <a:xfrm>
            <a:off x="10925150" y="111925"/>
            <a:ext cx="927295" cy="923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nvSpPr>
        <p:spPr>
          <a:xfrm>
            <a:off x="2006600" y="190500"/>
            <a:ext cx="7950300" cy="75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1" i="0" lang="en-US" sz="4300" u="none" cap="none" strike="noStrike">
                <a:solidFill>
                  <a:schemeClr val="dk1"/>
                </a:solidFill>
                <a:latin typeface="Bell MT"/>
                <a:ea typeface="Bell MT"/>
                <a:cs typeface="Bell MT"/>
                <a:sym typeface="Bell MT"/>
              </a:rPr>
              <a:t>OBJECTIVES</a:t>
            </a:r>
            <a:endParaRPr b="1" i="0" sz="4300" u="none" cap="none" strike="noStrike">
              <a:solidFill>
                <a:schemeClr val="dk1"/>
              </a:solidFill>
              <a:latin typeface="Bell MT"/>
              <a:ea typeface="Bell MT"/>
              <a:cs typeface="Bell MT"/>
              <a:sym typeface="Bell MT"/>
            </a:endParaRPr>
          </a:p>
        </p:txBody>
      </p:sp>
      <p:sp>
        <p:nvSpPr>
          <p:cNvPr id="188" name="Google Shape;188;p28"/>
          <p:cNvSpPr txBox="1"/>
          <p:nvPr/>
        </p:nvSpPr>
        <p:spPr>
          <a:xfrm>
            <a:off x="1358900" y="1524000"/>
            <a:ext cx="9867900" cy="4419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28"/>
          <p:cNvSpPr/>
          <p:nvPr/>
        </p:nvSpPr>
        <p:spPr>
          <a:xfrm>
            <a:off x="1191825" y="707425"/>
            <a:ext cx="9294000" cy="4561500"/>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2600"/>
              <a:buFont typeface="Calibri"/>
              <a:buNone/>
            </a:pPr>
            <a:r>
              <a:t/>
            </a:r>
            <a:endParaRPr b="0" i="0" sz="26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Detect and count people using AI-based Computer Vision.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Predict crowd-related risks before emergencies occur.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Generate automatic emergency alerts for authorities.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Improve crowd management and reduce response time.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Enhance public safety and support smart city surveillance.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Monitor crowd density in real time using CCTV cameras.</a:t>
            </a:r>
            <a:endParaRPr b="0" i="0" sz="1400" u="none" cap="none" strike="noStrike">
              <a:solidFill>
                <a:srgbClr val="000000"/>
              </a:solidFill>
              <a:latin typeface="Arial"/>
              <a:ea typeface="Arial"/>
              <a:cs typeface="Arial"/>
              <a:sym typeface="Arial"/>
            </a:endParaRPr>
          </a:p>
        </p:txBody>
      </p:sp>
      <p:sp>
        <p:nvSpPr>
          <p:cNvPr id="190" name="Google Shape;190;p28"/>
          <p:cNvSpPr/>
          <p:nvPr/>
        </p:nvSpPr>
        <p:spPr>
          <a:xfrm>
            <a:off x="1191825" y="4333950"/>
            <a:ext cx="9781200" cy="1892700"/>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2600"/>
              <a:buFont typeface="Calibri"/>
              <a:buNone/>
            </a:pPr>
            <a:r>
              <a:t/>
            </a:r>
            <a:endParaRPr b="0" i="0" sz="26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Assist security personnel in effective crowd management.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Identify overcrowded areas through continuous video analysis. </a:t>
            </a:r>
            <a:endParaRPr b="0" i="0" sz="1400" u="none" cap="none" strike="noStrike">
              <a:solidFill>
                <a:srgbClr val="000000"/>
              </a:solidFill>
              <a:latin typeface="Arial"/>
              <a:ea typeface="Arial"/>
              <a:cs typeface="Arial"/>
              <a:sym typeface="Arial"/>
            </a:endParaRPr>
          </a:p>
        </p:txBody>
      </p:sp>
      <p:pic>
        <p:nvPicPr>
          <p:cNvPr id="191" name="Google Shape;191;p28"/>
          <p:cNvPicPr preferRelativeResize="0"/>
          <p:nvPr/>
        </p:nvPicPr>
        <p:blipFill rotWithShape="1">
          <a:blip r:embed="rId3">
            <a:alphaModFix/>
          </a:blip>
          <a:srcRect b="0" l="0" r="0" t="0"/>
          <a:stretch/>
        </p:blipFill>
        <p:spPr>
          <a:xfrm>
            <a:off x="248150" y="190498"/>
            <a:ext cx="1045172" cy="923325"/>
          </a:xfrm>
          <a:prstGeom prst="rect">
            <a:avLst/>
          </a:prstGeom>
          <a:noFill/>
          <a:ln>
            <a:noFill/>
          </a:ln>
        </p:spPr>
      </p:pic>
      <p:pic>
        <p:nvPicPr>
          <p:cNvPr id="192" name="Google Shape;192;p28"/>
          <p:cNvPicPr preferRelativeResize="0"/>
          <p:nvPr/>
        </p:nvPicPr>
        <p:blipFill rotWithShape="1">
          <a:blip r:embed="rId4">
            <a:alphaModFix/>
          </a:blip>
          <a:srcRect b="0" l="0" r="0" t="0"/>
          <a:stretch/>
        </p:blipFill>
        <p:spPr>
          <a:xfrm>
            <a:off x="10925150" y="111925"/>
            <a:ext cx="927295" cy="923325"/>
          </a:xfrm>
          <a:prstGeom prst="rect">
            <a:avLst/>
          </a:prstGeom>
          <a:noFill/>
          <a:ln>
            <a:noFill/>
          </a:ln>
        </p:spPr>
      </p:pic>
      <p:pic>
        <p:nvPicPr>
          <p:cNvPr id="193" name="Google Shape;193;p28" title="Screenshot 2026-04-21 130447.png"/>
          <p:cNvPicPr preferRelativeResize="0"/>
          <p:nvPr/>
        </p:nvPicPr>
        <p:blipFill rotWithShape="1">
          <a:blip r:embed="rId5">
            <a:alphaModFix/>
          </a:blip>
          <a:srcRect b="0" l="0" r="0" t="0"/>
          <a:stretch/>
        </p:blipFill>
        <p:spPr>
          <a:xfrm>
            <a:off x="9750425" y="2212975"/>
            <a:ext cx="2213150" cy="2650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graphicFrame>
        <p:nvGraphicFramePr>
          <p:cNvPr id="198" name="Google Shape;198;p29"/>
          <p:cNvGraphicFramePr/>
          <p:nvPr/>
        </p:nvGraphicFramePr>
        <p:xfrm>
          <a:off x="182388" y="677375"/>
          <a:ext cx="3000000" cy="3000000"/>
        </p:xfrm>
        <a:graphic>
          <a:graphicData uri="http://schemas.openxmlformats.org/drawingml/2006/table">
            <a:tbl>
              <a:tblPr>
                <a:noFill/>
                <a:tableStyleId>{36954905-AB05-4AE9-A14F-3B18AB3E6D23}</a:tableStyleId>
              </a:tblPr>
              <a:tblGrid>
                <a:gridCol w="1651050"/>
                <a:gridCol w="1651050"/>
                <a:gridCol w="1651050"/>
                <a:gridCol w="1651050"/>
                <a:gridCol w="1651050"/>
                <a:gridCol w="1651050"/>
                <a:gridCol w="1841550"/>
              </a:tblGrid>
              <a:tr h="697125">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S.NO</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AUTHOR NAME</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PAPER TITLE</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METHOD USED</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DATASET</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ACCURACY</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sz="1900">
                          <a:latin typeface="Times New Roman"/>
                          <a:ea typeface="Times New Roman"/>
                          <a:cs typeface="Times New Roman"/>
                          <a:sym typeface="Times New Roman"/>
                        </a:rPr>
                        <a:t>FINDINGS</a:t>
                      </a:r>
                      <a:endParaRPr b="1" sz="1900">
                        <a:latin typeface="Times New Roman"/>
                        <a:ea typeface="Times New Roman"/>
                        <a:cs typeface="Times New Roman"/>
                        <a:sym typeface="Times New Roman"/>
                      </a:endParaRPr>
                    </a:p>
                  </a:txBody>
                  <a:tcPr marT="91425" marB="91425" marR="91425" marL="91425"/>
                </a:tc>
              </a:tr>
              <a:tr h="1728925">
                <a:tc>
                  <a:txBody>
                    <a:bodyPr/>
                    <a:lstStyle/>
                    <a:p>
                      <a:pPr indent="0" lvl="0" marL="0" rtl="0" algn="l">
                        <a:spcBef>
                          <a:spcPts val="0"/>
                        </a:spcBef>
                        <a:spcAft>
                          <a:spcPts val="0"/>
                        </a:spcAft>
                        <a:buNone/>
                      </a:pPr>
                      <a:r>
                        <a:rPr b="1" lang="en-US" sz="1900"/>
                        <a:t>1</a:t>
                      </a:r>
                      <a:endParaRPr b="1" sz="1900"/>
                    </a:p>
                    <a:p>
                      <a:pPr indent="0" lvl="0" marL="0" rtl="0" algn="l">
                        <a:spcBef>
                          <a:spcPts val="0"/>
                        </a:spcBef>
                        <a:spcAft>
                          <a:spcPts val="0"/>
                        </a:spcAft>
                        <a:buNone/>
                      </a:pPr>
                      <a:r>
                        <a:t/>
                      </a:r>
                      <a:endParaRPr b="1" sz="1900"/>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S. Balasubramanian et al.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1200">
                          <a:solidFill>
                            <a:schemeClr val="dk1"/>
                          </a:solidFill>
                          <a:latin typeface="Times New Roman"/>
                          <a:ea typeface="Times New Roman"/>
                          <a:cs typeface="Times New Roman"/>
                          <a:sym typeface="Times New Roman"/>
                        </a:rPr>
                        <a:t>Proactive Headcount and Suspicious Activity Detection using YOLOv8</a:t>
                      </a:r>
                      <a:r>
                        <a:rPr lang="en-US" sz="1200">
                          <a:solidFill>
                            <a:schemeClr val="dk1"/>
                          </a:solidFill>
                          <a:latin typeface="Times New Roman"/>
                          <a:ea typeface="Times New Roman"/>
                          <a:cs typeface="Times New Roman"/>
                          <a:sym typeface="Times New Roman"/>
                        </a:rPr>
                        <a:t> (2023)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YOLOv8 Object Detection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Custom Surveillance Video Dataset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t>95.4% </a:t>
                      </a:r>
                      <a:endParaRPr sz="1500"/>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Achieved accurate real-time headcount detection and suspicious activity monitoring for public safety applications. </a:t>
                      </a:r>
                      <a:endParaRPr sz="1500">
                        <a:latin typeface="Times New Roman"/>
                        <a:ea typeface="Times New Roman"/>
                        <a:cs typeface="Times New Roman"/>
                        <a:sym typeface="Times New Roman"/>
                      </a:endParaRPr>
                    </a:p>
                  </a:txBody>
                  <a:tcPr marT="91425" marB="91425" marR="91425" marL="91425"/>
                </a:tc>
              </a:tr>
              <a:tr h="1533700">
                <a:tc>
                  <a:txBody>
                    <a:bodyPr/>
                    <a:lstStyle/>
                    <a:p>
                      <a:pPr indent="0" lvl="0" marL="0" rtl="0" algn="l">
                        <a:spcBef>
                          <a:spcPts val="0"/>
                        </a:spcBef>
                        <a:spcAft>
                          <a:spcPts val="0"/>
                        </a:spcAft>
                        <a:buNone/>
                      </a:pPr>
                      <a:r>
                        <a:rPr b="1" lang="en-US" sz="1900"/>
                        <a:t>2</a:t>
                      </a:r>
                      <a:endParaRPr b="1" sz="1900"/>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Yuchao Fang, Huanli Pang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An Improved Pedestrian Detection Model Based on YOLOv8 for Dense Scenes (2024)</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Improved YOLOv8 with attention mechanism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CrowdHuman &amp; WiderPerson datasets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t>96.1%</a:t>
                      </a:r>
                      <a:endParaRPr sz="1500"/>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Improved pedestrian detection accuracy in crowded and occluded environments. </a:t>
                      </a:r>
                      <a:endParaRPr sz="1500">
                        <a:latin typeface="Times New Roman"/>
                        <a:ea typeface="Times New Roman"/>
                        <a:cs typeface="Times New Roman"/>
                        <a:sym typeface="Times New Roman"/>
                      </a:endParaRPr>
                    </a:p>
                  </a:txBody>
                  <a:tcPr marT="91425" marB="91425" marR="91425" marL="91425"/>
                </a:tc>
              </a:tr>
              <a:tr h="1240925">
                <a:tc>
                  <a:txBody>
                    <a:bodyPr/>
                    <a:lstStyle/>
                    <a:p>
                      <a:pPr indent="0" lvl="0" marL="0" rtl="0" algn="l">
                        <a:spcBef>
                          <a:spcPts val="0"/>
                        </a:spcBef>
                        <a:spcAft>
                          <a:spcPts val="0"/>
                        </a:spcAft>
                        <a:buNone/>
                      </a:pPr>
                      <a:r>
                        <a:rPr b="1" lang="en-US" sz="1900"/>
                        <a:t>3</a:t>
                      </a:r>
                      <a:endParaRPr b="1" sz="1900"/>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Abdullah N. Alhawsawi et al.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US" sz="1200">
                          <a:solidFill>
                            <a:schemeClr val="dk1"/>
                          </a:solidFill>
                          <a:latin typeface="Times New Roman"/>
                          <a:ea typeface="Times New Roman"/>
                          <a:cs typeface="Times New Roman"/>
                          <a:sym typeface="Times New Roman"/>
                        </a:rPr>
                        <a:t>Enhanced YOLOv8-Based Model with Context Enrichment Module for Crowd Counting in Complex Drone Imagery</a:t>
                      </a:r>
                      <a:r>
                        <a:rPr lang="en-US" sz="1200">
                          <a:solidFill>
                            <a:schemeClr val="dk1"/>
                          </a:solidFill>
                          <a:latin typeface="Times New Roman"/>
                          <a:ea typeface="Times New Roman"/>
                          <a:cs typeface="Times New Roman"/>
                          <a:sym typeface="Times New Roman"/>
                        </a:rPr>
                        <a:t> (2024)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Enhanced YOLOv8 + Context Enrichment Module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VisDrone &amp; DroneCrowd datasets </a:t>
                      </a:r>
                      <a:endParaRPr sz="15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US" sz="1500"/>
                        <a:t>97.2% </a:t>
                      </a:r>
                      <a:endParaRPr sz="1500"/>
                    </a:p>
                  </a:txBody>
                  <a:tcPr marT="91425" marB="91425" marR="91425" marL="91425"/>
                </a:tc>
                <a:tc>
                  <a:txBody>
                    <a:bodyPr/>
                    <a:lstStyle/>
                    <a:p>
                      <a:pPr indent="0" lvl="0" marL="0" rtl="0" algn="l">
                        <a:spcBef>
                          <a:spcPts val="0"/>
                        </a:spcBef>
                        <a:spcAft>
                          <a:spcPts val="0"/>
                        </a:spcAft>
                        <a:buNone/>
                      </a:pPr>
                      <a:r>
                        <a:rPr lang="en-US" sz="1500">
                          <a:latin typeface="Times New Roman"/>
                          <a:ea typeface="Times New Roman"/>
                          <a:cs typeface="Times New Roman"/>
                          <a:sym typeface="Times New Roman"/>
                        </a:rPr>
                        <a:t>Increased crowd counting accuracy in aerial images with dense crowds </a:t>
                      </a:r>
                      <a:endParaRPr sz="1500">
                        <a:latin typeface="Times New Roman"/>
                        <a:ea typeface="Times New Roman"/>
                        <a:cs typeface="Times New Roman"/>
                        <a:sym typeface="Times New Roman"/>
                      </a:endParaRPr>
                    </a:p>
                  </a:txBody>
                  <a:tcPr marT="91425" marB="91425" marR="91425" marL="91425"/>
                </a:tc>
              </a:tr>
            </a:tbl>
          </a:graphicData>
        </a:graphic>
      </p:graphicFrame>
      <p:sp>
        <p:nvSpPr>
          <p:cNvPr id="199" name="Google Shape;199;p29"/>
          <p:cNvSpPr txBox="1"/>
          <p:nvPr/>
        </p:nvSpPr>
        <p:spPr>
          <a:xfrm>
            <a:off x="2881275" y="101600"/>
            <a:ext cx="6350100" cy="34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400">
                <a:solidFill>
                  <a:schemeClr val="dk1"/>
                </a:solidFill>
                <a:latin typeface="Times New Roman"/>
                <a:ea typeface="Times New Roman"/>
                <a:cs typeface="Times New Roman"/>
                <a:sym typeface="Times New Roman"/>
              </a:rPr>
              <a:t>LITERATURE SURVEY</a:t>
            </a:r>
            <a:endParaRPr b="1" sz="2400">
              <a:solidFill>
                <a:schemeClr val="dk1"/>
              </a:solidFill>
              <a:latin typeface="Times New Roman"/>
              <a:ea typeface="Times New Roman"/>
              <a:cs typeface="Times New Roman"/>
              <a:sym typeface="Times New Roman"/>
            </a:endParaRPr>
          </a:p>
        </p:txBody>
      </p:sp>
      <p:pic>
        <p:nvPicPr>
          <p:cNvPr id="200" name="Google Shape;200;p29"/>
          <p:cNvPicPr preferRelativeResize="0"/>
          <p:nvPr/>
        </p:nvPicPr>
        <p:blipFill rotWithShape="1">
          <a:blip r:embed="rId3">
            <a:alphaModFix/>
          </a:blip>
          <a:srcRect b="0" l="0" r="0" t="0"/>
          <a:stretch/>
        </p:blipFill>
        <p:spPr>
          <a:xfrm>
            <a:off x="104775" y="101600"/>
            <a:ext cx="771525" cy="506750"/>
          </a:xfrm>
          <a:prstGeom prst="rect">
            <a:avLst/>
          </a:prstGeom>
          <a:noFill/>
          <a:ln>
            <a:noFill/>
          </a:ln>
        </p:spPr>
      </p:pic>
      <p:pic>
        <p:nvPicPr>
          <p:cNvPr id="201" name="Google Shape;201;p29"/>
          <p:cNvPicPr preferRelativeResize="0"/>
          <p:nvPr/>
        </p:nvPicPr>
        <p:blipFill rotWithShape="1">
          <a:blip r:embed="rId4">
            <a:alphaModFix/>
          </a:blip>
          <a:srcRect b="0" l="0" r="0" t="0"/>
          <a:stretch/>
        </p:blipFill>
        <p:spPr>
          <a:xfrm>
            <a:off x="11163300" y="72250"/>
            <a:ext cx="692125" cy="565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nvSpPr>
        <p:spPr>
          <a:xfrm>
            <a:off x="0" y="127000"/>
            <a:ext cx="12192000" cy="75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1" i="0" lang="en-US" sz="4300" u="none" cap="none" strike="noStrike">
                <a:solidFill>
                  <a:schemeClr val="dk1"/>
                </a:solidFill>
                <a:latin typeface="Bell MT"/>
                <a:ea typeface="Bell MT"/>
                <a:cs typeface="Bell MT"/>
                <a:sym typeface="Bell MT"/>
              </a:rPr>
              <a:t>PROBLEM STATEMENT</a:t>
            </a:r>
            <a:endParaRPr b="1" i="0" sz="4300" u="none" cap="none" strike="noStrike">
              <a:solidFill>
                <a:schemeClr val="dk1"/>
              </a:solidFill>
              <a:latin typeface="Bell MT"/>
              <a:ea typeface="Bell MT"/>
              <a:cs typeface="Bell MT"/>
              <a:sym typeface="Bell MT"/>
            </a:endParaRPr>
          </a:p>
        </p:txBody>
      </p:sp>
      <p:graphicFrame>
        <p:nvGraphicFramePr>
          <p:cNvPr id="207" name="Google Shape;207;p30"/>
          <p:cNvGraphicFramePr/>
          <p:nvPr/>
        </p:nvGraphicFramePr>
        <p:xfrm>
          <a:off x="-2387600" y="3111500"/>
          <a:ext cx="3000000" cy="3000000"/>
        </p:xfrm>
        <a:graphic>
          <a:graphicData uri="http://schemas.openxmlformats.org/drawingml/2006/table">
            <a:tbl>
              <a:tblPr>
                <a:noFill/>
                <a:tableStyleId>{8061B6A7-0134-4AAD-AF7E-146F03DDB320}</a:tableStyleId>
              </a:tblPr>
              <a:tblGrid>
                <a:gridCol w="208275"/>
              </a:tblGrid>
              <a:tr h="1778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pic>
        <p:nvPicPr>
          <p:cNvPr id="208" name="Google Shape;208;p30"/>
          <p:cNvPicPr preferRelativeResize="0"/>
          <p:nvPr/>
        </p:nvPicPr>
        <p:blipFill rotWithShape="1">
          <a:blip r:embed="rId3">
            <a:alphaModFix/>
          </a:blip>
          <a:srcRect b="0" l="0" r="0" t="0"/>
          <a:stretch/>
        </p:blipFill>
        <p:spPr>
          <a:xfrm>
            <a:off x="146600" y="58947"/>
            <a:ext cx="958225" cy="846500"/>
          </a:xfrm>
          <a:prstGeom prst="rect">
            <a:avLst/>
          </a:prstGeom>
          <a:noFill/>
          <a:ln>
            <a:noFill/>
          </a:ln>
        </p:spPr>
      </p:pic>
      <p:pic>
        <p:nvPicPr>
          <p:cNvPr id="209" name="Google Shape;209;p30"/>
          <p:cNvPicPr preferRelativeResize="0"/>
          <p:nvPr/>
        </p:nvPicPr>
        <p:blipFill rotWithShape="1">
          <a:blip r:embed="rId4">
            <a:alphaModFix/>
          </a:blip>
          <a:srcRect b="0" l="0" r="0" t="0"/>
          <a:stretch/>
        </p:blipFill>
        <p:spPr>
          <a:xfrm>
            <a:off x="10925150" y="111925"/>
            <a:ext cx="927295" cy="923325"/>
          </a:xfrm>
          <a:prstGeom prst="rect">
            <a:avLst/>
          </a:prstGeom>
          <a:noFill/>
          <a:ln>
            <a:noFill/>
          </a:ln>
        </p:spPr>
      </p:pic>
      <p:sp>
        <p:nvSpPr>
          <p:cNvPr id="210" name="Google Shape;210;p30"/>
          <p:cNvSpPr txBox="1"/>
          <p:nvPr/>
        </p:nvSpPr>
        <p:spPr>
          <a:xfrm>
            <a:off x="454700" y="1431725"/>
            <a:ext cx="11010300" cy="4734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US" sz="2200">
                <a:solidFill>
                  <a:schemeClr val="dk1"/>
                </a:solidFill>
                <a:latin typeface="Times New Roman"/>
                <a:ea typeface="Times New Roman"/>
                <a:cs typeface="Times New Roman"/>
                <a:sym typeface="Times New Roman"/>
              </a:rPr>
              <a:t>The existing traditional crowd monitoring system mainly relies on manual monitoring by security personnel, which can lead to human errors and may fail to identify overcrowded areas. Monitoring large crowds continuously is difficult, and incidents are often detected only after they occur, resulting in delayed emergency responses and alerts. The traditional system also provides limited decision support to authorities, increasing the risk of stampedes and public accidents. To overcome these limitations, the proposed </a:t>
            </a:r>
            <a:r>
              <a:rPr b="1" lang="en-US" sz="2200">
                <a:solidFill>
                  <a:schemeClr val="dk1"/>
                </a:solidFill>
                <a:latin typeface="Times New Roman"/>
                <a:ea typeface="Times New Roman"/>
                <a:cs typeface="Times New Roman"/>
                <a:sym typeface="Times New Roman"/>
              </a:rPr>
              <a:t>AI-Based Smart Emergency Crowd Alert System</a:t>
            </a:r>
            <a:r>
              <a:rPr lang="en-US" sz="2200">
                <a:solidFill>
                  <a:schemeClr val="dk1"/>
                </a:solidFill>
                <a:latin typeface="Times New Roman"/>
                <a:ea typeface="Times New Roman"/>
                <a:cs typeface="Times New Roman"/>
                <a:sym typeface="Times New Roman"/>
              </a:rPr>
              <a:t> uses Artificial Intelligence and Computer Vision for automated and continuous monitoring. </a:t>
            </a:r>
            <a:endParaRPr sz="2200">
              <a:solidFill>
                <a:schemeClr val="dk1"/>
              </a:solidFill>
              <a:latin typeface="Times New Roman"/>
              <a:ea typeface="Times New Roman"/>
              <a:cs typeface="Times New Roman"/>
              <a:sym typeface="Times New Roman"/>
            </a:endParaRPr>
          </a:p>
          <a:p>
            <a:pPr indent="-368300" lvl="0" marL="457200" rtl="0" algn="just">
              <a:lnSpc>
                <a:spcPct val="115000"/>
              </a:lnSpc>
              <a:spcBef>
                <a:spcPts val="120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The system analyzes live CCTV video streams, detects and counts people accurately in real time, identifies potential crowd risks before emergencies occur, and automatically generates instant emergency alerts. </a:t>
            </a:r>
            <a:endParaRPr sz="2200">
              <a:solidFill>
                <a:schemeClr val="dk1"/>
              </a:solidFill>
              <a:latin typeface="Times New Roman"/>
              <a:ea typeface="Times New Roman"/>
              <a:cs typeface="Times New Roman"/>
              <a:sym typeface="Times New Roman"/>
            </a:endParaRPr>
          </a:p>
          <a:p>
            <a:pPr indent="-368300" lvl="0" marL="457200" rtl="0" algn="just">
              <a:lnSpc>
                <a:spcPct val="115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It also provides real-time insights to authorities for faster decision-making, thereby reducing crowd-related risks and improving overall public safety.</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nvSpPr>
        <p:spPr>
          <a:xfrm>
            <a:off x="-342900" y="266700"/>
            <a:ext cx="13017600" cy="75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300"/>
              <a:buFont typeface="Arial"/>
              <a:buNone/>
            </a:pPr>
            <a:r>
              <a:rPr b="1" i="0" lang="en-US" sz="4300" u="none" cap="none" strike="noStrike">
                <a:solidFill>
                  <a:schemeClr val="dk1"/>
                </a:solidFill>
                <a:latin typeface="Bell MT"/>
                <a:ea typeface="Bell MT"/>
                <a:cs typeface="Bell MT"/>
                <a:sym typeface="Bell MT"/>
              </a:rPr>
              <a:t> SYSTEM ARCHITECTURE</a:t>
            </a:r>
            <a:endParaRPr b="1" i="0" sz="4300" u="none" cap="none" strike="noStrike">
              <a:solidFill>
                <a:schemeClr val="dk1"/>
              </a:solidFill>
              <a:latin typeface="Bell MT"/>
              <a:ea typeface="Bell MT"/>
              <a:cs typeface="Bell MT"/>
              <a:sym typeface="Bell MT"/>
            </a:endParaRPr>
          </a:p>
        </p:txBody>
      </p:sp>
      <p:pic>
        <p:nvPicPr>
          <p:cNvPr id="216" name="Google Shape;216;p31"/>
          <p:cNvPicPr preferRelativeResize="0"/>
          <p:nvPr/>
        </p:nvPicPr>
        <p:blipFill rotWithShape="1">
          <a:blip r:embed="rId3">
            <a:alphaModFix/>
          </a:blip>
          <a:srcRect b="0" l="0" r="0" t="0"/>
          <a:stretch/>
        </p:blipFill>
        <p:spPr>
          <a:xfrm>
            <a:off x="190100" y="173498"/>
            <a:ext cx="1133275" cy="1001150"/>
          </a:xfrm>
          <a:prstGeom prst="rect">
            <a:avLst/>
          </a:prstGeom>
          <a:noFill/>
          <a:ln>
            <a:noFill/>
          </a:ln>
        </p:spPr>
      </p:pic>
      <p:pic>
        <p:nvPicPr>
          <p:cNvPr id="217" name="Google Shape;217;p31"/>
          <p:cNvPicPr preferRelativeResize="0"/>
          <p:nvPr/>
        </p:nvPicPr>
        <p:blipFill rotWithShape="1">
          <a:blip r:embed="rId4">
            <a:alphaModFix/>
          </a:blip>
          <a:srcRect b="0" l="0" r="0" t="0"/>
          <a:stretch/>
        </p:blipFill>
        <p:spPr>
          <a:xfrm>
            <a:off x="10925150" y="111925"/>
            <a:ext cx="927295" cy="923325"/>
          </a:xfrm>
          <a:prstGeom prst="rect">
            <a:avLst/>
          </a:prstGeom>
          <a:noFill/>
          <a:ln>
            <a:noFill/>
          </a:ln>
        </p:spPr>
      </p:pic>
      <p:sp>
        <p:nvSpPr>
          <p:cNvPr id="218" name="Google Shape;218;p31"/>
          <p:cNvSpPr/>
          <p:nvPr/>
        </p:nvSpPr>
        <p:spPr>
          <a:xfrm>
            <a:off x="539350" y="1499200"/>
            <a:ext cx="1536900" cy="3798725"/>
          </a:xfrm>
          <a:prstGeom prst="flowChartProcess">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9" name="Google Shape;219;p31"/>
          <p:cNvSpPr txBox="1"/>
          <p:nvPr/>
        </p:nvSpPr>
        <p:spPr>
          <a:xfrm>
            <a:off x="669850" y="1658675"/>
            <a:ext cx="1261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1) Input Layer</a:t>
            </a:r>
            <a:endParaRPr b="0" i="0" sz="1500" u="none" cap="none" strike="noStrike">
              <a:solidFill>
                <a:schemeClr val="dk1"/>
              </a:solidFill>
              <a:latin typeface="Calibri"/>
              <a:ea typeface="Calibri"/>
              <a:cs typeface="Calibri"/>
              <a:sym typeface="Calibri"/>
            </a:endParaRPr>
          </a:p>
        </p:txBody>
      </p:sp>
      <p:pic>
        <p:nvPicPr>
          <p:cNvPr id="220" name="Google Shape;220;p31"/>
          <p:cNvPicPr preferRelativeResize="0"/>
          <p:nvPr/>
        </p:nvPicPr>
        <p:blipFill rotWithShape="1">
          <a:blip r:embed="rId5">
            <a:alphaModFix/>
          </a:blip>
          <a:srcRect b="0" l="0" r="0" t="0"/>
          <a:stretch/>
        </p:blipFill>
        <p:spPr>
          <a:xfrm>
            <a:off x="930825" y="2139000"/>
            <a:ext cx="767500" cy="714375"/>
          </a:xfrm>
          <a:prstGeom prst="rect">
            <a:avLst/>
          </a:prstGeom>
          <a:noFill/>
          <a:ln>
            <a:noFill/>
          </a:ln>
        </p:spPr>
      </p:pic>
      <p:pic>
        <p:nvPicPr>
          <p:cNvPr id="221" name="Google Shape;221;p31"/>
          <p:cNvPicPr preferRelativeResize="0"/>
          <p:nvPr/>
        </p:nvPicPr>
        <p:blipFill rotWithShape="1">
          <a:blip r:embed="rId6">
            <a:alphaModFix/>
          </a:blip>
          <a:srcRect b="0" l="0" r="0" t="0"/>
          <a:stretch/>
        </p:blipFill>
        <p:spPr>
          <a:xfrm>
            <a:off x="930825" y="3109900"/>
            <a:ext cx="767500" cy="714375"/>
          </a:xfrm>
          <a:prstGeom prst="rect">
            <a:avLst/>
          </a:prstGeom>
          <a:solidFill>
            <a:schemeClr val="lt1"/>
          </a:solidFill>
          <a:ln>
            <a:noFill/>
          </a:ln>
        </p:spPr>
      </p:pic>
      <p:pic>
        <p:nvPicPr>
          <p:cNvPr id="222" name="Google Shape;222;p31"/>
          <p:cNvPicPr preferRelativeResize="0"/>
          <p:nvPr/>
        </p:nvPicPr>
        <p:blipFill rotWithShape="1">
          <a:blip r:embed="rId7">
            <a:alphaModFix/>
          </a:blip>
          <a:srcRect b="0" l="0" r="0" t="0"/>
          <a:stretch/>
        </p:blipFill>
        <p:spPr>
          <a:xfrm>
            <a:off x="930825" y="4080800"/>
            <a:ext cx="767500" cy="725250"/>
          </a:xfrm>
          <a:prstGeom prst="rect">
            <a:avLst/>
          </a:prstGeom>
          <a:noFill/>
          <a:ln>
            <a:noFill/>
          </a:ln>
        </p:spPr>
      </p:pic>
      <p:sp>
        <p:nvSpPr>
          <p:cNvPr id="223" name="Google Shape;223;p31"/>
          <p:cNvSpPr/>
          <p:nvPr/>
        </p:nvSpPr>
        <p:spPr>
          <a:xfrm>
            <a:off x="2366225" y="1499350"/>
            <a:ext cx="2551800" cy="3798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4" name="Google Shape;224;p31"/>
          <p:cNvSpPr txBox="1"/>
          <p:nvPr/>
        </p:nvSpPr>
        <p:spPr>
          <a:xfrm>
            <a:off x="2496725" y="1658675"/>
            <a:ext cx="2290800" cy="609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2) Video Processing and person Detection</a:t>
            </a:r>
            <a:endParaRPr b="0" i="0" sz="1500" u="none" cap="none" strike="noStrike">
              <a:solidFill>
                <a:schemeClr val="dk1"/>
              </a:solidFill>
              <a:latin typeface="Calibri"/>
              <a:ea typeface="Calibri"/>
              <a:cs typeface="Calibri"/>
              <a:sym typeface="Calibri"/>
            </a:endParaRPr>
          </a:p>
        </p:txBody>
      </p:sp>
      <p:pic>
        <p:nvPicPr>
          <p:cNvPr id="225" name="Google Shape;225;p31"/>
          <p:cNvPicPr preferRelativeResize="0"/>
          <p:nvPr/>
        </p:nvPicPr>
        <p:blipFill rotWithShape="1">
          <a:blip r:embed="rId8">
            <a:alphaModFix/>
          </a:blip>
          <a:srcRect b="0" l="0" r="0" t="0"/>
          <a:stretch/>
        </p:blipFill>
        <p:spPr>
          <a:xfrm>
            <a:off x="2670675" y="2267675"/>
            <a:ext cx="1942875" cy="1001150"/>
          </a:xfrm>
          <a:prstGeom prst="rect">
            <a:avLst/>
          </a:prstGeom>
          <a:noFill/>
          <a:ln>
            <a:noFill/>
          </a:ln>
        </p:spPr>
      </p:pic>
      <p:sp>
        <p:nvSpPr>
          <p:cNvPr id="226" name="Google Shape;226;p31"/>
          <p:cNvSpPr/>
          <p:nvPr/>
        </p:nvSpPr>
        <p:spPr>
          <a:xfrm>
            <a:off x="3497150" y="3282550"/>
            <a:ext cx="188400" cy="2466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7" name="Google Shape;227;p31"/>
          <p:cNvSpPr/>
          <p:nvPr/>
        </p:nvSpPr>
        <p:spPr>
          <a:xfrm>
            <a:off x="2670725" y="3542875"/>
            <a:ext cx="1942800" cy="60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YOLO v8</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(Person Detection)</a:t>
            </a:r>
            <a:endParaRPr b="0" i="0" sz="1400" u="none" cap="none" strike="noStrike">
              <a:solidFill>
                <a:srgbClr val="000000"/>
              </a:solidFill>
              <a:latin typeface="Calibri"/>
              <a:ea typeface="Calibri"/>
              <a:cs typeface="Calibri"/>
              <a:sym typeface="Calibri"/>
            </a:endParaRPr>
          </a:p>
        </p:txBody>
      </p:sp>
      <p:sp>
        <p:nvSpPr>
          <p:cNvPr id="228" name="Google Shape;228;p31"/>
          <p:cNvSpPr/>
          <p:nvPr/>
        </p:nvSpPr>
        <p:spPr>
          <a:xfrm>
            <a:off x="3497150" y="4165600"/>
            <a:ext cx="188400" cy="2466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9" name="Google Shape;229;p31"/>
          <p:cNvSpPr/>
          <p:nvPr/>
        </p:nvSpPr>
        <p:spPr>
          <a:xfrm>
            <a:off x="2670650" y="4508525"/>
            <a:ext cx="1942800" cy="609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People counting and Tracking</a:t>
            </a:r>
            <a:endParaRPr b="0" i="0" sz="1400" u="none" cap="none" strike="noStrike">
              <a:solidFill>
                <a:srgbClr val="000000"/>
              </a:solidFill>
              <a:latin typeface="Calibri"/>
              <a:ea typeface="Calibri"/>
              <a:cs typeface="Calibri"/>
              <a:sym typeface="Calibri"/>
            </a:endParaRPr>
          </a:p>
        </p:txBody>
      </p:sp>
      <p:sp>
        <p:nvSpPr>
          <p:cNvPr id="230" name="Google Shape;230;p31"/>
          <p:cNvSpPr/>
          <p:nvPr/>
        </p:nvSpPr>
        <p:spPr>
          <a:xfrm>
            <a:off x="5376675" y="1499325"/>
            <a:ext cx="2162400" cy="3798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1" name="Google Shape;231;p31"/>
          <p:cNvSpPr txBox="1"/>
          <p:nvPr/>
        </p:nvSpPr>
        <p:spPr>
          <a:xfrm>
            <a:off x="5522025" y="1606025"/>
            <a:ext cx="1871700" cy="714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3) Crowd Analysis and risk prediction</a:t>
            </a:r>
            <a:endParaRPr b="0" i="0" sz="1500" u="none" cap="none" strike="noStrike">
              <a:solidFill>
                <a:schemeClr val="dk1"/>
              </a:solidFill>
              <a:latin typeface="Calibri"/>
              <a:ea typeface="Calibri"/>
              <a:cs typeface="Calibri"/>
              <a:sym typeface="Calibri"/>
            </a:endParaRPr>
          </a:p>
        </p:txBody>
      </p:sp>
      <p:sp>
        <p:nvSpPr>
          <p:cNvPr id="232" name="Google Shape;232;p31"/>
          <p:cNvSpPr txBox="1"/>
          <p:nvPr/>
        </p:nvSpPr>
        <p:spPr>
          <a:xfrm>
            <a:off x="5489625" y="2313975"/>
            <a:ext cx="1871700" cy="7143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Crowd density Calculation</a:t>
            </a:r>
            <a:endParaRPr b="0" i="0" sz="1500" u="none" cap="none" strike="noStrike">
              <a:solidFill>
                <a:schemeClr val="dk1"/>
              </a:solidFill>
              <a:latin typeface="Calibri"/>
              <a:ea typeface="Calibri"/>
              <a:cs typeface="Calibri"/>
              <a:sym typeface="Calibri"/>
            </a:endParaRPr>
          </a:p>
        </p:txBody>
      </p:sp>
      <p:pic>
        <p:nvPicPr>
          <p:cNvPr id="233" name="Google Shape;233;p31"/>
          <p:cNvPicPr preferRelativeResize="0"/>
          <p:nvPr/>
        </p:nvPicPr>
        <p:blipFill rotWithShape="1">
          <a:blip r:embed="rId9">
            <a:alphaModFix/>
          </a:blip>
          <a:srcRect b="0" l="0" r="0" t="0"/>
          <a:stretch/>
        </p:blipFill>
        <p:spPr>
          <a:xfrm>
            <a:off x="5489625" y="2422075"/>
            <a:ext cx="618875" cy="498108"/>
          </a:xfrm>
          <a:prstGeom prst="rect">
            <a:avLst/>
          </a:prstGeom>
          <a:noFill/>
          <a:ln>
            <a:noFill/>
          </a:ln>
        </p:spPr>
      </p:pic>
      <p:sp>
        <p:nvSpPr>
          <p:cNvPr id="234" name="Google Shape;234;p31"/>
          <p:cNvSpPr txBox="1"/>
          <p:nvPr/>
        </p:nvSpPr>
        <p:spPr>
          <a:xfrm>
            <a:off x="5554175" y="2959425"/>
            <a:ext cx="1871700" cy="6090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  Crowd growth analysis</a:t>
            </a:r>
            <a:endParaRPr b="0" i="0" sz="1500" u="none" cap="none" strike="noStrike">
              <a:solidFill>
                <a:schemeClr val="dk1"/>
              </a:solidFill>
              <a:latin typeface="Calibri"/>
              <a:ea typeface="Calibri"/>
              <a:cs typeface="Calibri"/>
              <a:sym typeface="Calibri"/>
            </a:endParaRPr>
          </a:p>
        </p:txBody>
      </p:sp>
      <p:pic>
        <p:nvPicPr>
          <p:cNvPr id="235" name="Google Shape;235;p31"/>
          <p:cNvPicPr preferRelativeResize="0"/>
          <p:nvPr/>
        </p:nvPicPr>
        <p:blipFill rotWithShape="1">
          <a:blip r:embed="rId10">
            <a:alphaModFix/>
          </a:blip>
          <a:srcRect b="0" l="0" r="0" t="0"/>
          <a:stretch/>
        </p:blipFill>
        <p:spPr>
          <a:xfrm>
            <a:off x="5501381" y="3109900"/>
            <a:ext cx="543368" cy="498100"/>
          </a:xfrm>
          <a:prstGeom prst="rect">
            <a:avLst/>
          </a:prstGeom>
          <a:noFill/>
          <a:ln>
            <a:noFill/>
          </a:ln>
        </p:spPr>
      </p:pic>
      <p:sp>
        <p:nvSpPr>
          <p:cNvPr id="236" name="Google Shape;236;p31"/>
          <p:cNvSpPr txBox="1"/>
          <p:nvPr/>
        </p:nvSpPr>
        <p:spPr>
          <a:xfrm>
            <a:off x="5554175" y="3669425"/>
            <a:ext cx="1710600" cy="7143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Risk Score calculation</a:t>
            </a:r>
            <a:endParaRPr b="0" i="0" sz="1500" u="none" cap="none" strike="noStrike">
              <a:solidFill>
                <a:schemeClr val="dk1"/>
              </a:solidFill>
              <a:latin typeface="Calibri"/>
              <a:ea typeface="Calibri"/>
              <a:cs typeface="Calibri"/>
              <a:sym typeface="Calibri"/>
            </a:endParaRPr>
          </a:p>
        </p:txBody>
      </p:sp>
      <p:pic>
        <p:nvPicPr>
          <p:cNvPr id="237" name="Google Shape;237;p31"/>
          <p:cNvPicPr preferRelativeResize="0"/>
          <p:nvPr/>
        </p:nvPicPr>
        <p:blipFill rotWithShape="1">
          <a:blip r:embed="rId11">
            <a:alphaModFix/>
          </a:blip>
          <a:srcRect b="0" l="0" r="0" t="0"/>
          <a:stretch/>
        </p:blipFill>
        <p:spPr>
          <a:xfrm>
            <a:off x="5585925" y="3797729"/>
            <a:ext cx="543375" cy="498094"/>
          </a:xfrm>
          <a:prstGeom prst="rect">
            <a:avLst/>
          </a:prstGeom>
          <a:noFill/>
          <a:ln>
            <a:noFill/>
          </a:ln>
        </p:spPr>
      </p:pic>
      <p:sp>
        <p:nvSpPr>
          <p:cNvPr id="238" name="Google Shape;238;p31"/>
          <p:cNvSpPr txBox="1"/>
          <p:nvPr/>
        </p:nvSpPr>
        <p:spPr>
          <a:xfrm>
            <a:off x="5651000" y="4411700"/>
            <a:ext cx="1710600" cy="7143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  Risk prediction </a:t>
            </a:r>
            <a:endParaRPr b="0" i="0" sz="15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(Future Score)</a:t>
            </a:r>
            <a:endParaRPr b="0" i="0" sz="1500" u="none" cap="none" strike="noStrike">
              <a:solidFill>
                <a:schemeClr val="dk1"/>
              </a:solidFill>
              <a:latin typeface="Calibri"/>
              <a:ea typeface="Calibri"/>
              <a:cs typeface="Calibri"/>
              <a:sym typeface="Calibri"/>
            </a:endParaRPr>
          </a:p>
        </p:txBody>
      </p:sp>
      <p:pic>
        <p:nvPicPr>
          <p:cNvPr id="239" name="Google Shape;239;p31"/>
          <p:cNvPicPr preferRelativeResize="0"/>
          <p:nvPr/>
        </p:nvPicPr>
        <p:blipFill rotWithShape="1">
          <a:blip r:embed="rId12">
            <a:alphaModFix/>
          </a:blip>
          <a:srcRect b="0" l="0" r="0" t="0"/>
          <a:stretch/>
        </p:blipFill>
        <p:spPr>
          <a:xfrm>
            <a:off x="5527375" y="4445150"/>
            <a:ext cx="543375" cy="486275"/>
          </a:xfrm>
          <a:prstGeom prst="rect">
            <a:avLst/>
          </a:prstGeom>
          <a:noFill/>
          <a:ln>
            <a:noFill/>
          </a:ln>
        </p:spPr>
      </p:pic>
      <p:sp>
        <p:nvSpPr>
          <p:cNvPr id="240" name="Google Shape;240;p31"/>
          <p:cNvSpPr/>
          <p:nvPr/>
        </p:nvSpPr>
        <p:spPr>
          <a:xfrm>
            <a:off x="7732600" y="1523275"/>
            <a:ext cx="4227600" cy="3774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1" name="Google Shape;241;p31"/>
          <p:cNvSpPr txBox="1"/>
          <p:nvPr/>
        </p:nvSpPr>
        <p:spPr>
          <a:xfrm>
            <a:off x="7845550" y="1652375"/>
            <a:ext cx="3808200" cy="24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Calibri"/>
                <a:ea typeface="Calibri"/>
                <a:cs typeface="Calibri"/>
                <a:sym typeface="Calibri"/>
              </a:rPr>
              <a:t>4)Dashboard and alert system</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pic>
        <p:nvPicPr>
          <p:cNvPr id="242" name="Google Shape;242;p31" title="Screenshot 2026-07-22 082744.png"/>
          <p:cNvPicPr preferRelativeResize="0"/>
          <p:nvPr/>
        </p:nvPicPr>
        <p:blipFill rotWithShape="1">
          <a:blip r:embed="rId13">
            <a:alphaModFix/>
          </a:blip>
          <a:srcRect b="0" l="0" r="0" t="0"/>
          <a:stretch/>
        </p:blipFill>
        <p:spPr>
          <a:xfrm>
            <a:off x="7997725" y="2139000"/>
            <a:ext cx="3736725" cy="2915875"/>
          </a:xfrm>
          <a:prstGeom prst="rect">
            <a:avLst/>
          </a:prstGeom>
          <a:noFill/>
          <a:ln>
            <a:noFill/>
          </a:ln>
        </p:spPr>
      </p:pic>
      <p:sp>
        <p:nvSpPr>
          <p:cNvPr id="243" name="Google Shape;243;p31"/>
          <p:cNvSpPr/>
          <p:nvPr/>
        </p:nvSpPr>
        <p:spPr>
          <a:xfrm>
            <a:off x="2084825" y="3217600"/>
            <a:ext cx="281400" cy="2466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4" name="Google Shape;244;p31"/>
          <p:cNvSpPr/>
          <p:nvPr/>
        </p:nvSpPr>
        <p:spPr>
          <a:xfrm>
            <a:off x="4916782" y="3235650"/>
            <a:ext cx="459900" cy="2466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5" name="Google Shape;245;p31"/>
          <p:cNvSpPr/>
          <p:nvPr/>
        </p:nvSpPr>
        <p:spPr>
          <a:xfrm>
            <a:off x="7539075" y="3217600"/>
            <a:ext cx="188400" cy="2466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6" name="Google Shape;246;p31"/>
          <p:cNvSpPr/>
          <p:nvPr/>
        </p:nvSpPr>
        <p:spPr>
          <a:xfrm>
            <a:off x="6315275" y="5297875"/>
            <a:ext cx="188400" cy="4206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7" name="Google Shape;247;p31"/>
          <p:cNvSpPr/>
          <p:nvPr/>
        </p:nvSpPr>
        <p:spPr>
          <a:xfrm>
            <a:off x="4989500" y="5768575"/>
            <a:ext cx="3033600" cy="92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48" name="Google Shape;248;p31"/>
          <p:cNvSpPr txBox="1"/>
          <p:nvPr/>
        </p:nvSpPr>
        <p:spPr>
          <a:xfrm>
            <a:off x="4682800" y="5768575"/>
            <a:ext cx="39210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6) Alert Generation</a:t>
            </a:r>
            <a:endParaRPr b="0" i="0" sz="1500" u="none" cap="none" strike="noStrike">
              <a:solidFill>
                <a:schemeClr val="dk1"/>
              </a:solidFill>
              <a:latin typeface="Calibri"/>
              <a:ea typeface="Calibri"/>
              <a:cs typeface="Calibri"/>
              <a:sym typeface="Calibri"/>
            </a:endParaRPr>
          </a:p>
        </p:txBody>
      </p:sp>
      <p:pic>
        <p:nvPicPr>
          <p:cNvPr id="249" name="Google Shape;249;p31"/>
          <p:cNvPicPr preferRelativeResize="0"/>
          <p:nvPr/>
        </p:nvPicPr>
        <p:blipFill rotWithShape="1">
          <a:blip r:embed="rId14">
            <a:alphaModFix/>
          </a:blip>
          <a:srcRect b="0" l="0" r="0" t="0"/>
          <a:stretch/>
        </p:blipFill>
        <p:spPr>
          <a:xfrm>
            <a:off x="5409200" y="6119525"/>
            <a:ext cx="2323400" cy="479900"/>
          </a:xfrm>
          <a:prstGeom prst="rect">
            <a:avLst/>
          </a:prstGeom>
          <a:noFill/>
          <a:ln>
            <a:noFill/>
          </a:ln>
        </p:spPr>
      </p:pic>
      <p:sp>
        <p:nvSpPr>
          <p:cNvPr id="250" name="Google Shape;250;p31"/>
          <p:cNvSpPr/>
          <p:nvPr/>
        </p:nvSpPr>
        <p:spPr>
          <a:xfrm>
            <a:off x="8329650" y="5768575"/>
            <a:ext cx="3324000" cy="908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(People count,Risk score,Alerts,</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Time,Date)</a:t>
            </a:r>
            <a:endParaRPr b="0" i="0" sz="1400" u="none" cap="none" strike="noStrike">
              <a:solidFill>
                <a:srgbClr val="000000"/>
              </a:solidFill>
              <a:latin typeface="Calibri"/>
              <a:ea typeface="Calibri"/>
              <a:cs typeface="Calibri"/>
              <a:sym typeface="Calibri"/>
            </a:endParaRPr>
          </a:p>
        </p:txBody>
      </p:sp>
      <p:sp>
        <p:nvSpPr>
          <p:cNvPr id="251" name="Google Shape;251;p31"/>
          <p:cNvSpPr txBox="1"/>
          <p:nvPr/>
        </p:nvSpPr>
        <p:spPr>
          <a:xfrm>
            <a:off x="8313400" y="5785900"/>
            <a:ext cx="33240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5)Database and logging</a:t>
            </a:r>
            <a:endParaRPr b="0" i="0" sz="1500" u="none" cap="none" strike="noStrike">
              <a:solidFill>
                <a:schemeClr val="dk1"/>
              </a:solidFill>
              <a:latin typeface="Calibri"/>
              <a:ea typeface="Calibri"/>
              <a:cs typeface="Calibri"/>
              <a:sym typeface="Calibri"/>
            </a:endParaRPr>
          </a:p>
        </p:txBody>
      </p:sp>
      <p:sp>
        <p:nvSpPr>
          <p:cNvPr id="252" name="Google Shape;252;p31"/>
          <p:cNvSpPr/>
          <p:nvPr/>
        </p:nvSpPr>
        <p:spPr>
          <a:xfrm>
            <a:off x="8039200" y="6154450"/>
            <a:ext cx="281400" cy="2466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3" name="Google Shape;253;p31"/>
          <p:cNvSpPr/>
          <p:nvPr/>
        </p:nvSpPr>
        <p:spPr>
          <a:xfrm rot="10800000">
            <a:off x="9771888" y="5322925"/>
            <a:ext cx="188400" cy="420600"/>
          </a:xfrm>
          <a:prstGeom prst="up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4" name="Google Shape;254;p31"/>
          <p:cNvSpPr/>
          <p:nvPr/>
        </p:nvSpPr>
        <p:spPr>
          <a:xfrm>
            <a:off x="1930900" y="5622650"/>
            <a:ext cx="2162400" cy="1113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1)Monitors system</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2)View logs</a:t>
            </a:r>
            <a:endParaRPr b="0" i="0" sz="1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3)Generate reports</a:t>
            </a:r>
            <a:endParaRPr b="0" i="0" sz="1400" u="none" cap="none" strike="noStrike">
              <a:solidFill>
                <a:srgbClr val="000000"/>
              </a:solidFill>
              <a:latin typeface="Calibri"/>
              <a:ea typeface="Calibri"/>
              <a:cs typeface="Calibri"/>
              <a:sym typeface="Calibri"/>
            </a:endParaRPr>
          </a:p>
        </p:txBody>
      </p:sp>
      <p:sp>
        <p:nvSpPr>
          <p:cNvPr id="255" name="Google Shape;255;p31"/>
          <p:cNvSpPr txBox="1"/>
          <p:nvPr/>
        </p:nvSpPr>
        <p:spPr>
          <a:xfrm>
            <a:off x="2366225" y="5622650"/>
            <a:ext cx="1871700" cy="24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alibri"/>
                <a:ea typeface="Calibri"/>
                <a:cs typeface="Calibri"/>
                <a:sym typeface="Calibri"/>
              </a:rPr>
              <a:t>System admin</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alibri"/>
              <a:ea typeface="Calibri"/>
              <a:cs typeface="Calibri"/>
              <a:sym typeface="Calibri"/>
            </a:endParaRPr>
          </a:p>
        </p:txBody>
      </p:sp>
      <p:sp>
        <p:nvSpPr>
          <p:cNvPr id="256" name="Google Shape;256;p31"/>
          <p:cNvSpPr/>
          <p:nvPr/>
        </p:nvSpPr>
        <p:spPr>
          <a:xfrm>
            <a:off x="4101900" y="6119525"/>
            <a:ext cx="887700" cy="1641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2"/>
          <p:cNvSpPr txBox="1"/>
          <p:nvPr/>
        </p:nvSpPr>
        <p:spPr>
          <a:xfrm>
            <a:off x="1743387" y="308550"/>
            <a:ext cx="87678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800"/>
              <a:buFont typeface="Arial"/>
              <a:buNone/>
            </a:pPr>
            <a:r>
              <a:rPr b="1" i="0" lang="en-US" sz="3500" u="none" cap="none" strike="noStrike">
                <a:solidFill>
                  <a:schemeClr val="dk1"/>
                </a:solidFill>
                <a:latin typeface="Bell MT"/>
                <a:ea typeface="Bell MT"/>
                <a:cs typeface="Bell MT"/>
                <a:sym typeface="Bell MT"/>
              </a:rPr>
              <a:t>MODULE </a:t>
            </a:r>
            <a:r>
              <a:rPr b="1" i="0" lang="en-US" sz="3700" u="none" cap="none" strike="noStrike">
                <a:solidFill>
                  <a:schemeClr val="dk1"/>
                </a:solidFill>
                <a:latin typeface="Bell MT"/>
                <a:ea typeface="Bell MT"/>
                <a:cs typeface="Bell MT"/>
                <a:sym typeface="Bell MT"/>
              </a:rPr>
              <a:t>1</a:t>
            </a:r>
            <a:r>
              <a:rPr b="1" i="0" lang="en-US" sz="3500" u="none" cap="none" strike="noStrike">
                <a:solidFill>
                  <a:schemeClr val="dk1"/>
                </a:solidFill>
                <a:latin typeface="Bell MT"/>
                <a:ea typeface="Bell MT"/>
                <a:cs typeface="Bell MT"/>
                <a:sym typeface="Bell MT"/>
              </a:rPr>
              <a:t>: CROWD DETECTION AND MONITORING</a:t>
            </a:r>
            <a:endParaRPr b="1" i="0" sz="3500" u="none" cap="none" strike="noStrike">
              <a:solidFill>
                <a:schemeClr val="dk1"/>
              </a:solidFill>
              <a:latin typeface="Bell MT"/>
              <a:ea typeface="Bell MT"/>
              <a:cs typeface="Bell MT"/>
              <a:sym typeface="Bell MT"/>
            </a:endParaRPr>
          </a:p>
        </p:txBody>
      </p:sp>
      <p:sp>
        <p:nvSpPr>
          <p:cNvPr id="262" name="Google Shape;262;p32"/>
          <p:cNvSpPr txBox="1"/>
          <p:nvPr/>
        </p:nvSpPr>
        <p:spPr>
          <a:xfrm>
            <a:off x="508000" y="1708727"/>
            <a:ext cx="11748600" cy="212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Purpose</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Detect and monitor crowd density in real time using AI and Computer Vision.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Identify people and overcrowded areas for continuous crowd surveillance.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3" name="Google Shape;263;p32"/>
          <p:cNvSpPr txBox="1"/>
          <p:nvPr/>
        </p:nvSpPr>
        <p:spPr>
          <a:xfrm>
            <a:off x="508000" y="3389224"/>
            <a:ext cx="10511100" cy="3786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Functions</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Capture live video from CCTV cameras.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Detect and count people using AI models (YOLO).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Estimate crowd density continuously.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Identify overcrowded areas.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Track crowd movement for continuous monitoring.</a:t>
            </a:r>
            <a:endParaRPr b="0" i="0" sz="1400" u="none" cap="none" strike="noStrike">
              <a:solidFill>
                <a:srgbClr val="000000"/>
              </a:solidFill>
              <a:latin typeface="Arial"/>
              <a:ea typeface="Arial"/>
              <a:cs typeface="Arial"/>
              <a:sym typeface="Arial"/>
            </a:endParaRPr>
          </a:p>
          <a:p>
            <a:pPr indent="-190500" lvl="0" marL="342900" marR="0" rtl="0" algn="l">
              <a:lnSpc>
                <a:spcPct val="15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264" name="Google Shape;264;p32"/>
          <p:cNvPicPr preferRelativeResize="0"/>
          <p:nvPr/>
        </p:nvPicPr>
        <p:blipFill rotWithShape="1">
          <a:blip r:embed="rId3">
            <a:alphaModFix/>
          </a:blip>
          <a:srcRect b="0" l="0" r="0" t="0"/>
          <a:stretch/>
        </p:blipFill>
        <p:spPr>
          <a:xfrm>
            <a:off x="190100" y="173498"/>
            <a:ext cx="1133275" cy="1001150"/>
          </a:xfrm>
          <a:prstGeom prst="rect">
            <a:avLst/>
          </a:prstGeom>
          <a:noFill/>
          <a:ln>
            <a:noFill/>
          </a:ln>
        </p:spPr>
      </p:pic>
      <p:pic>
        <p:nvPicPr>
          <p:cNvPr id="265" name="Google Shape;265;p32"/>
          <p:cNvPicPr preferRelativeResize="0"/>
          <p:nvPr/>
        </p:nvPicPr>
        <p:blipFill rotWithShape="1">
          <a:blip r:embed="rId4">
            <a:alphaModFix/>
          </a:blip>
          <a:srcRect b="0" l="0" r="0" t="0"/>
          <a:stretch/>
        </p:blipFill>
        <p:spPr>
          <a:xfrm>
            <a:off x="10925150" y="111925"/>
            <a:ext cx="927295" cy="923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nvSpPr>
        <p:spPr>
          <a:xfrm>
            <a:off x="3955400" y="438375"/>
            <a:ext cx="3852300" cy="51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500">
                <a:solidFill>
                  <a:schemeClr val="dk1"/>
                </a:solidFill>
                <a:latin typeface="Times New Roman"/>
                <a:ea typeface="Times New Roman"/>
                <a:cs typeface="Times New Roman"/>
                <a:sym typeface="Times New Roman"/>
              </a:rPr>
              <a:t>OUTPUT</a:t>
            </a:r>
            <a:endParaRPr b="1" sz="3500">
              <a:solidFill>
                <a:schemeClr val="dk1"/>
              </a:solidFill>
              <a:latin typeface="Times New Roman"/>
              <a:ea typeface="Times New Roman"/>
              <a:cs typeface="Times New Roman"/>
              <a:sym typeface="Times New Roman"/>
            </a:endParaRPr>
          </a:p>
        </p:txBody>
      </p:sp>
      <p:pic>
        <p:nvPicPr>
          <p:cNvPr id="271" name="Google Shape;271;p33" title="Screenshot 2026-08-19 080705.png"/>
          <p:cNvPicPr preferRelativeResize="0"/>
          <p:nvPr/>
        </p:nvPicPr>
        <p:blipFill>
          <a:blip r:embed="rId3">
            <a:alphaModFix/>
          </a:blip>
          <a:stretch>
            <a:fillRect/>
          </a:stretch>
        </p:blipFill>
        <p:spPr>
          <a:xfrm>
            <a:off x="1786913" y="1255025"/>
            <a:ext cx="8618175" cy="5128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nvSpPr>
        <p:spPr>
          <a:xfrm>
            <a:off x="69296" y="284618"/>
            <a:ext cx="120534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800"/>
              <a:buFont typeface="Arial"/>
              <a:buNone/>
            </a:pPr>
            <a:r>
              <a:rPr b="1" i="0" lang="en-US" sz="3200" u="none" cap="none" strike="noStrike">
                <a:solidFill>
                  <a:schemeClr val="dk1"/>
                </a:solidFill>
                <a:latin typeface="Times New Roman"/>
                <a:ea typeface="Times New Roman"/>
                <a:cs typeface="Times New Roman"/>
                <a:sym typeface="Times New Roman"/>
              </a:rPr>
              <a:t>M</a:t>
            </a:r>
            <a:r>
              <a:rPr b="1" lang="en-US" sz="3200">
                <a:solidFill>
                  <a:schemeClr val="dk1"/>
                </a:solidFill>
                <a:latin typeface="Times New Roman"/>
                <a:ea typeface="Times New Roman"/>
                <a:cs typeface="Times New Roman"/>
                <a:sym typeface="Times New Roman"/>
              </a:rPr>
              <a:t>ODULE</a:t>
            </a:r>
            <a:r>
              <a:rPr b="1" i="0" lang="en-US" sz="3200" u="none" cap="none" strike="noStrike">
                <a:solidFill>
                  <a:schemeClr val="dk1"/>
                </a:solidFill>
                <a:latin typeface="Times New Roman"/>
                <a:ea typeface="Times New Roman"/>
                <a:cs typeface="Times New Roman"/>
                <a:sym typeface="Times New Roman"/>
              </a:rPr>
              <a:t> 2: E</a:t>
            </a:r>
            <a:r>
              <a:rPr b="1" lang="en-US" sz="3200">
                <a:solidFill>
                  <a:schemeClr val="dk1"/>
                </a:solidFill>
                <a:latin typeface="Times New Roman"/>
                <a:ea typeface="Times New Roman"/>
                <a:cs typeface="Times New Roman"/>
                <a:sym typeface="Times New Roman"/>
              </a:rPr>
              <a:t>MERGENCY</a:t>
            </a:r>
            <a:r>
              <a:rPr b="1" i="0" lang="en-US" sz="3200" u="none" cap="none" strike="noStrike">
                <a:solidFill>
                  <a:schemeClr val="dk1"/>
                </a:solidFill>
                <a:latin typeface="Times New Roman"/>
                <a:ea typeface="Times New Roman"/>
                <a:cs typeface="Times New Roman"/>
                <a:sym typeface="Times New Roman"/>
              </a:rPr>
              <a:t> R</a:t>
            </a:r>
            <a:r>
              <a:rPr b="1" lang="en-US" sz="3200">
                <a:solidFill>
                  <a:schemeClr val="dk1"/>
                </a:solidFill>
                <a:latin typeface="Times New Roman"/>
                <a:ea typeface="Times New Roman"/>
                <a:cs typeface="Times New Roman"/>
                <a:sym typeface="Times New Roman"/>
              </a:rPr>
              <a:t>ISK </a:t>
            </a:r>
            <a:r>
              <a:rPr b="1" i="0" lang="en-US" sz="3200" u="none" cap="none" strike="noStrike">
                <a:solidFill>
                  <a:schemeClr val="dk1"/>
                </a:solidFill>
                <a:latin typeface="Times New Roman"/>
                <a:ea typeface="Times New Roman"/>
                <a:cs typeface="Times New Roman"/>
                <a:sym typeface="Times New Roman"/>
              </a:rPr>
              <a:t>A</a:t>
            </a:r>
            <a:r>
              <a:rPr b="1" lang="en-US" sz="3200">
                <a:solidFill>
                  <a:schemeClr val="dk1"/>
                </a:solidFill>
                <a:latin typeface="Times New Roman"/>
                <a:ea typeface="Times New Roman"/>
                <a:cs typeface="Times New Roman"/>
                <a:sym typeface="Times New Roman"/>
              </a:rPr>
              <a:t>NALYSIS</a:t>
            </a:r>
            <a:r>
              <a:rPr b="1" i="0" lang="en-US" sz="3200" u="none" cap="none" strike="noStrike">
                <a:solidFill>
                  <a:schemeClr val="dk1"/>
                </a:solidFill>
                <a:latin typeface="Times New Roman"/>
                <a:ea typeface="Times New Roman"/>
                <a:cs typeface="Times New Roman"/>
                <a:sym typeface="Times New Roman"/>
              </a:rPr>
              <a:t> </a:t>
            </a:r>
            <a:endParaRPr b="1" i="0" sz="3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800"/>
              <a:buFont typeface="Arial"/>
              <a:buNone/>
            </a:pPr>
            <a:r>
              <a:rPr b="1" lang="en-US" sz="3200">
                <a:solidFill>
                  <a:schemeClr val="dk1"/>
                </a:solidFill>
                <a:latin typeface="Times New Roman"/>
                <a:ea typeface="Times New Roman"/>
                <a:cs typeface="Times New Roman"/>
                <a:sym typeface="Times New Roman"/>
              </a:rPr>
              <a:t>AND</a:t>
            </a:r>
            <a:r>
              <a:rPr b="1" i="0" lang="en-US" sz="3200" u="none" cap="none" strike="noStrike">
                <a:solidFill>
                  <a:schemeClr val="dk1"/>
                </a:solidFill>
                <a:latin typeface="Times New Roman"/>
                <a:ea typeface="Times New Roman"/>
                <a:cs typeface="Times New Roman"/>
                <a:sym typeface="Times New Roman"/>
              </a:rPr>
              <a:t> A</a:t>
            </a:r>
            <a:r>
              <a:rPr b="1" lang="en-US" sz="3200">
                <a:solidFill>
                  <a:schemeClr val="dk1"/>
                </a:solidFill>
                <a:latin typeface="Times New Roman"/>
                <a:ea typeface="Times New Roman"/>
                <a:cs typeface="Times New Roman"/>
                <a:sym typeface="Times New Roman"/>
              </a:rPr>
              <a:t>LERT</a:t>
            </a:r>
            <a:r>
              <a:rPr b="1" i="0" lang="en-US" sz="3200" u="none" cap="none" strike="noStrike">
                <a:solidFill>
                  <a:schemeClr val="dk1"/>
                </a:solidFill>
                <a:latin typeface="Times New Roman"/>
                <a:ea typeface="Times New Roman"/>
                <a:cs typeface="Times New Roman"/>
                <a:sym typeface="Times New Roman"/>
              </a:rPr>
              <a:t> S</a:t>
            </a:r>
            <a:r>
              <a:rPr b="1" lang="en-US" sz="3200">
                <a:solidFill>
                  <a:schemeClr val="dk1"/>
                </a:solidFill>
                <a:latin typeface="Times New Roman"/>
                <a:ea typeface="Times New Roman"/>
                <a:cs typeface="Times New Roman"/>
                <a:sym typeface="Times New Roman"/>
              </a:rPr>
              <a:t>YSTEM</a:t>
            </a:r>
            <a:endParaRPr b="1" i="0" sz="3200" u="none" cap="none" strike="noStrike">
              <a:solidFill>
                <a:schemeClr val="dk1"/>
              </a:solidFill>
              <a:latin typeface="Times New Roman"/>
              <a:ea typeface="Times New Roman"/>
              <a:cs typeface="Times New Roman"/>
              <a:sym typeface="Times New Roman"/>
            </a:endParaRPr>
          </a:p>
        </p:txBody>
      </p:sp>
      <p:sp>
        <p:nvSpPr>
          <p:cNvPr id="277" name="Google Shape;277;p34"/>
          <p:cNvSpPr txBox="1"/>
          <p:nvPr/>
        </p:nvSpPr>
        <p:spPr>
          <a:xfrm>
            <a:off x="738909" y="1542146"/>
            <a:ext cx="9873600" cy="2124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Purpose</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Analyze crowd conditions to identify potential emergency situations. </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Predict crowd-related risks and generate timely alerts for authorities.</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8" name="Google Shape;278;p34"/>
          <p:cNvSpPr txBox="1"/>
          <p:nvPr/>
        </p:nvSpPr>
        <p:spPr>
          <a:xfrm>
            <a:off x="738909" y="3203287"/>
            <a:ext cx="8931600" cy="3786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Functions</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Analyze crowd density and movement patterns. </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Classify risk levels (Low, Medium, High). </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Detect abnormal crowd behavior. </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Generate automatic emergency alerts. </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Send notifications to security personnel and emergency responders.</a:t>
            </a:r>
            <a:endParaRPr b="0" i="0" sz="1400" u="none" cap="none" strike="noStrike">
              <a:solidFill>
                <a:srgbClr val="000000"/>
              </a:solidFill>
              <a:latin typeface="Arial"/>
              <a:ea typeface="Arial"/>
              <a:cs typeface="Arial"/>
              <a:sym typeface="Arial"/>
            </a:endParaRPr>
          </a:p>
          <a:p>
            <a:pPr indent="-190500" lvl="0" marL="342900" marR="0" rtl="0" algn="just">
              <a:lnSpc>
                <a:spcPct val="15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279" name="Google Shape;279;p34"/>
          <p:cNvPicPr preferRelativeResize="0"/>
          <p:nvPr/>
        </p:nvPicPr>
        <p:blipFill rotWithShape="1">
          <a:blip r:embed="rId3">
            <a:alphaModFix/>
          </a:blip>
          <a:srcRect b="0" l="0" r="0" t="0"/>
          <a:stretch/>
        </p:blipFill>
        <p:spPr>
          <a:xfrm>
            <a:off x="190100" y="173498"/>
            <a:ext cx="1133275" cy="1001150"/>
          </a:xfrm>
          <a:prstGeom prst="rect">
            <a:avLst/>
          </a:prstGeom>
          <a:noFill/>
          <a:ln>
            <a:noFill/>
          </a:ln>
        </p:spPr>
      </p:pic>
      <p:pic>
        <p:nvPicPr>
          <p:cNvPr id="280" name="Google Shape;280;p34"/>
          <p:cNvPicPr preferRelativeResize="0"/>
          <p:nvPr/>
        </p:nvPicPr>
        <p:blipFill rotWithShape="1">
          <a:blip r:embed="rId4">
            <a:alphaModFix/>
          </a:blip>
          <a:srcRect b="0" l="0" r="0" t="0"/>
          <a:stretch/>
        </p:blipFill>
        <p:spPr>
          <a:xfrm>
            <a:off x="10925150" y="111925"/>
            <a:ext cx="927295" cy="923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5"/>
          <p:cNvSpPr txBox="1"/>
          <p:nvPr/>
        </p:nvSpPr>
        <p:spPr>
          <a:xfrm>
            <a:off x="4138050" y="554625"/>
            <a:ext cx="3188100" cy="54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100">
                <a:solidFill>
                  <a:schemeClr val="dk1"/>
                </a:solidFill>
                <a:latin typeface="Times New Roman"/>
                <a:ea typeface="Times New Roman"/>
                <a:cs typeface="Times New Roman"/>
                <a:sym typeface="Times New Roman"/>
              </a:rPr>
              <a:t>OUTPUT</a:t>
            </a:r>
            <a:endParaRPr b="1" sz="3100">
              <a:solidFill>
                <a:schemeClr val="dk1"/>
              </a:solidFill>
              <a:latin typeface="Times New Roman"/>
              <a:ea typeface="Times New Roman"/>
              <a:cs typeface="Times New Roman"/>
              <a:sym typeface="Times New Roman"/>
            </a:endParaRPr>
          </a:p>
        </p:txBody>
      </p:sp>
      <p:pic>
        <p:nvPicPr>
          <p:cNvPr id="286" name="Google Shape;286;p35" title="Screenshot 2026-08-19 081030.png"/>
          <p:cNvPicPr preferRelativeResize="0"/>
          <p:nvPr/>
        </p:nvPicPr>
        <p:blipFill>
          <a:blip r:embed="rId3">
            <a:alphaModFix/>
          </a:blip>
          <a:stretch>
            <a:fillRect/>
          </a:stretch>
        </p:blipFill>
        <p:spPr>
          <a:xfrm>
            <a:off x="1630650" y="1487625"/>
            <a:ext cx="8369075" cy="4912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6"/>
          <p:cNvSpPr txBox="1"/>
          <p:nvPr/>
        </p:nvSpPr>
        <p:spPr>
          <a:xfrm>
            <a:off x="965778" y="251113"/>
            <a:ext cx="10566300" cy="1108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800"/>
              <a:buFont typeface="Arial"/>
              <a:buNone/>
            </a:pPr>
            <a:r>
              <a:rPr b="1" i="0" lang="en-US" sz="3300" u="none" cap="none" strike="noStrike">
                <a:solidFill>
                  <a:schemeClr val="dk1"/>
                </a:solidFill>
                <a:latin typeface="Times New Roman"/>
                <a:ea typeface="Times New Roman"/>
                <a:cs typeface="Times New Roman"/>
                <a:sym typeface="Times New Roman"/>
              </a:rPr>
              <a:t>M</a:t>
            </a:r>
            <a:r>
              <a:rPr b="1" lang="en-US" sz="3300">
                <a:solidFill>
                  <a:schemeClr val="dk1"/>
                </a:solidFill>
                <a:latin typeface="Times New Roman"/>
                <a:ea typeface="Times New Roman"/>
                <a:cs typeface="Times New Roman"/>
                <a:sym typeface="Times New Roman"/>
              </a:rPr>
              <a:t>ODULE</a:t>
            </a:r>
            <a:r>
              <a:rPr b="1" i="0" lang="en-US" sz="3300" u="none" cap="none" strike="noStrike">
                <a:solidFill>
                  <a:schemeClr val="dk1"/>
                </a:solidFill>
                <a:latin typeface="Times New Roman"/>
                <a:ea typeface="Times New Roman"/>
                <a:cs typeface="Times New Roman"/>
                <a:sym typeface="Times New Roman"/>
              </a:rPr>
              <a:t> 3: D</a:t>
            </a:r>
            <a:r>
              <a:rPr b="1" lang="en-US" sz="3300">
                <a:solidFill>
                  <a:schemeClr val="dk1"/>
                </a:solidFill>
                <a:latin typeface="Times New Roman"/>
                <a:ea typeface="Times New Roman"/>
                <a:cs typeface="Times New Roman"/>
                <a:sym typeface="Times New Roman"/>
              </a:rPr>
              <a:t>ASHBOARD AND</a:t>
            </a:r>
            <a:r>
              <a:rPr b="1" i="0" lang="en-US" sz="3300" u="none" cap="none" strike="noStrike">
                <a:solidFill>
                  <a:schemeClr val="dk1"/>
                </a:solidFill>
                <a:latin typeface="Times New Roman"/>
                <a:ea typeface="Times New Roman"/>
                <a:cs typeface="Times New Roman"/>
                <a:sym typeface="Times New Roman"/>
              </a:rPr>
              <a:t> D</a:t>
            </a:r>
            <a:r>
              <a:rPr b="1" lang="en-US" sz="3300">
                <a:solidFill>
                  <a:schemeClr val="dk1"/>
                </a:solidFill>
                <a:latin typeface="Times New Roman"/>
                <a:ea typeface="Times New Roman"/>
                <a:cs typeface="Times New Roman"/>
                <a:sym typeface="Times New Roman"/>
              </a:rPr>
              <a:t>ATA</a:t>
            </a:r>
            <a:r>
              <a:rPr b="1" i="0" lang="en-US" sz="3300" u="none" cap="none" strike="noStrike">
                <a:solidFill>
                  <a:schemeClr val="dk1"/>
                </a:solidFill>
                <a:latin typeface="Times New Roman"/>
                <a:ea typeface="Times New Roman"/>
                <a:cs typeface="Times New Roman"/>
                <a:sym typeface="Times New Roman"/>
              </a:rPr>
              <a:t> MA</a:t>
            </a:r>
            <a:r>
              <a:rPr b="1" lang="en-US" sz="3300">
                <a:solidFill>
                  <a:schemeClr val="dk1"/>
                </a:solidFill>
                <a:latin typeface="Times New Roman"/>
                <a:ea typeface="Times New Roman"/>
                <a:cs typeface="Times New Roman"/>
                <a:sym typeface="Times New Roman"/>
              </a:rPr>
              <a:t>NAGEMENT</a:t>
            </a:r>
            <a:endParaRPr b="1" i="0" sz="3300" u="none" cap="none" strike="noStrike">
              <a:solidFill>
                <a:schemeClr val="dk1"/>
              </a:solidFill>
              <a:latin typeface="Times New Roman"/>
              <a:ea typeface="Times New Roman"/>
              <a:cs typeface="Times New Roman"/>
              <a:sym typeface="Times New Roman"/>
            </a:endParaRPr>
          </a:p>
        </p:txBody>
      </p:sp>
      <p:sp>
        <p:nvSpPr>
          <p:cNvPr id="292" name="Google Shape;292;p36"/>
          <p:cNvSpPr txBox="1"/>
          <p:nvPr/>
        </p:nvSpPr>
        <p:spPr>
          <a:xfrm>
            <a:off x="757352" y="1597029"/>
            <a:ext cx="11360700" cy="1939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Purpose</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Provide a centralized platform for real-time crowd monitoring and system management. </a:t>
            </a:r>
            <a:endParaRPr b="0" i="0" sz="1400" u="none" cap="none" strike="noStrike">
              <a:solidFill>
                <a:srgbClr val="000000"/>
              </a:solidFill>
              <a:latin typeface="Arial"/>
              <a:ea typeface="Arial"/>
              <a:cs typeface="Arial"/>
              <a:sym typeface="Arial"/>
            </a:endParaRPr>
          </a:p>
          <a:p>
            <a:pPr indent="-342900" lvl="0" marL="342900" marR="0" rtl="0" algn="just">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Store, visualize, and analyze crowd data to support informed decision-making.</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3" name="Google Shape;293;p36"/>
          <p:cNvSpPr txBox="1"/>
          <p:nvPr/>
        </p:nvSpPr>
        <p:spPr>
          <a:xfrm>
            <a:off x="757352" y="3029238"/>
            <a:ext cx="10677300" cy="360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Functions</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Display live crowd statistics and CCTV monitoring.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Show crowd density levels and emergency risk status.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Store historical crowd monitoring data.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Generate reports and data analytics.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Provide a dashboard for authorities to monitor and manage crowd situations.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294" name="Google Shape;294;p36"/>
          <p:cNvPicPr preferRelativeResize="0"/>
          <p:nvPr/>
        </p:nvPicPr>
        <p:blipFill rotWithShape="1">
          <a:blip r:embed="rId3">
            <a:alphaModFix/>
          </a:blip>
          <a:srcRect b="0" l="0" r="0" t="0"/>
          <a:stretch/>
        </p:blipFill>
        <p:spPr>
          <a:xfrm>
            <a:off x="190100" y="173498"/>
            <a:ext cx="1133275" cy="1001150"/>
          </a:xfrm>
          <a:prstGeom prst="rect">
            <a:avLst/>
          </a:prstGeom>
          <a:noFill/>
          <a:ln>
            <a:noFill/>
          </a:ln>
        </p:spPr>
      </p:pic>
      <p:pic>
        <p:nvPicPr>
          <p:cNvPr id="295" name="Google Shape;295;p36"/>
          <p:cNvPicPr preferRelativeResize="0"/>
          <p:nvPr/>
        </p:nvPicPr>
        <p:blipFill rotWithShape="1">
          <a:blip r:embed="rId4">
            <a:alphaModFix/>
          </a:blip>
          <a:srcRect b="0" l="0" r="0" t="0"/>
          <a:stretch/>
        </p:blipFill>
        <p:spPr>
          <a:xfrm>
            <a:off x="10925150" y="111925"/>
            <a:ext cx="927295" cy="923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7"/>
          <p:cNvSpPr txBox="1"/>
          <p:nvPr/>
        </p:nvSpPr>
        <p:spPr>
          <a:xfrm>
            <a:off x="3341000" y="488200"/>
            <a:ext cx="5164200" cy="61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200">
                <a:solidFill>
                  <a:schemeClr val="dk1"/>
                </a:solidFill>
                <a:latin typeface="Times New Roman"/>
                <a:ea typeface="Times New Roman"/>
                <a:cs typeface="Times New Roman"/>
                <a:sym typeface="Times New Roman"/>
              </a:rPr>
              <a:t>OUTPUT</a:t>
            </a:r>
            <a:endParaRPr b="1" sz="3200">
              <a:solidFill>
                <a:schemeClr val="dk1"/>
              </a:solidFill>
              <a:latin typeface="Times New Roman"/>
              <a:ea typeface="Times New Roman"/>
              <a:cs typeface="Times New Roman"/>
              <a:sym typeface="Times New Roman"/>
            </a:endParaRPr>
          </a:p>
        </p:txBody>
      </p:sp>
      <p:pic>
        <p:nvPicPr>
          <p:cNvPr id="301" name="Google Shape;301;p37" title="Screenshot 2026-08-19 081023.png"/>
          <p:cNvPicPr preferRelativeResize="0"/>
          <p:nvPr/>
        </p:nvPicPr>
        <p:blipFill>
          <a:blip r:embed="rId3">
            <a:alphaModFix/>
          </a:blip>
          <a:stretch>
            <a:fillRect/>
          </a:stretch>
        </p:blipFill>
        <p:spPr>
          <a:xfrm>
            <a:off x="1936363" y="1434700"/>
            <a:ext cx="8319275" cy="4881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nvSpPr>
        <p:spPr>
          <a:xfrm>
            <a:off x="4320700" y="521400"/>
            <a:ext cx="3370800" cy="5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Times New Roman"/>
                <a:ea typeface="Times New Roman"/>
                <a:cs typeface="Times New Roman"/>
                <a:sym typeface="Times New Roman"/>
              </a:rPr>
              <a:t>REFERENCES</a:t>
            </a:r>
            <a:endParaRPr b="1" sz="3200">
              <a:solidFill>
                <a:schemeClr val="dk1"/>
              </a:solidFill>
              <a:latin typeface="Times New Roman"/>
              <a:ea typeface="Times New Roman"/>
              <a:cs typeface="Times New Roman"/>
              <a:sym typeface="Times New Roman"/>
            </a:endParaRPr>
          </a:p>
        </p:txBody>
      </p:sp>
      <p:sp>
        <p:nvSpPr>
          <p:cNvPr id="307" name="Google Shape;307;p38"/>
          <p:cNvSpPr txBox="1"/>
          <p:nvPr/>
        </p:nvSpPr>
        <p:spPr>
          <a:xfrm>
            <a:off x="661375" y="1604575"/>
            <a:ext cx="10578300" cy="5373600"/>
          </a:xfrm>
          <a:prstGeom prst="rect">
            <a:avLst/>
          </a:prstGeom>
          <a:noFill/>
          <a:ln>
            <a:noFill/>
          </a:ln>
        </p:spPr>
        <p:txBody>
          <a:bodyPr anchorCtr="0" anchor="t" bIns="91425" lIns="91425" spcFirstLastPara="1" rIns="91425" wrap="square" tIns="91425">
            <a:normAutofit/>
          </a:bodyPr>
          <a:lstStyle/>
          <a:p>
            <a:pPr indent="0" lvl="0" marL="0" rtl="0" algn="just">
              <a:spcBef>
                <a:spcPts val="0"/>
              </a:spcBef>
              <a:spcAft>
                <a:spcPts val="0"/>
              </a:spcAft>
              <a:buNone/>
            </a:pPr>
            <a:r>
              <a:rPr lang="en-US" sz="1800"/>
              <a:t>•	Parashar, P., Bhartiya, P., &amp; Shriwastava, S., "Intelligent Crowd Monitoring and Early Warning Framework for Stampede Prevention Using YOLOv8m and CNN-LSTM Architecture," International Journal of Computer Trends and Technology, Vol. 74, No. 6, 2026.</a:t>
            </a:r>
            <a:endParaRPr sz="1800"/>
          </a:p>
          <a:p>
            <a:pPr indent="0" lvl="0" marL="0" rtl="0" algn="just">
              <a:spcBef>
                <a:spcPts val="0"/>
              </a:spcBef>
              <a:spcAft>
                <a:spcPts val="0"/>
              </a:spcAft>
              <a:buNone/>
            </a:pPr>
            <a:r>
              <a:t/>
            </a:r>
            <a:endParaRPr sz="1800"/>
          </a:p>
          <a:p>
            <a:pPr indent="0" lvl="0" marL="0" rtl="0" algn="just">
              <a:spcBef>
                <a:spcPts val="0"/>
              </a:spcBef>
              <a:spcAft>
                <a:spcPts val="0"/>
              </a:spcAft>
              <a:buNone/>
            </a:pPr>
            <a:r>
              <a:rPr lang="en-US" sz="1800"/>
              <a:t>•	Hong, S. C., &amp; Kim, E. M., "Analysis of Crowd Risk Based on Orthoimage Combining Deep Learning and Kernel Density Estimation," Journal of the Korean Society of Surveying, Geodesy, Photogrammetry and Cartography, 2026.</a:t>
            </a:r>
            <a:endParaRPr sz="1800"/>
          </a:p>
          <a:p>
            <a:pPr indent="0" lvl="0" marL="0" rtl="0" algn="just">
              <a:spcBef>
                <a:spcPts val="0"/>
              </a:spcBef>
              <a:spcAft>
                <a:spcPts val="0"/>
              </a:spcAft>
              <a:buNone/>
            </a:pPr>
            <a:r>
              <a:t/>
            </a:r>
            <a:endParaRPr sz="1800"/>
          </a:p>
          <a:p>
            <a:pPr indent="0" lvl="0" marL="0" rtl="0" algn="just">
              <a:spcBef>
                <a:spcPts val="0"/>
              </a:spcBef>
              <a:spcAft>
                <a:spcPts val="0"/>
              </a:spcAft>
              <a:buNone/>
            </a:pPr>
            <a:r>
              <a:rPr lang="en-US" sz="1800"/>
              <a:t>•	Krishna Reddy, K., Ramya, T., Ramesh, Y., &amp; Rao Pyla, J. V. G., "Real-Time Stampede Risk Prediction from Crowd Videos Using YOLOv8 and Spatio-Temporal Modeling," International Journal of Computational Science and Engineering Research, 2026.</a:t>
            </a:r>
            <a:endParaRPr sz="1800"/>
          </a:p>
          <a:p>
            <a:pPr indent="0" lvl="0" marL="0" rtl="0" algn="just">
              <a:spcBef>
                <a:spcPts val="0"/>
              </a:spcBef>
              <a:spcAft>
                <a:spcPts val="0"/>
              </a:spcAft>
              <a:buNone/>
            </a:pPr>
            <a:r>
              <a:t/>
            </a:r>
            <a:endParaRPr sz="1800"/>
          </a:p>
          <a:p>
            <a:pPr indent="0" lvl="0" marL="0" rtl="0" algn="just">
              <a:spcBef>
                <a:spcPts val="0"/>
              </a:spcBef>
              <a:spcAft>
                <a:spcPts val="0"/>
              </a:spcAft>
              <a:buNone/>
            </a:pPr>
            <a:r>
              <a:rPr lang="en-US" sz="1800"/>
              <a:t>•	Rao, M. V. G., Kartheesan, L., &amp; Ravi Teja, T., "Smart AI-Driven Crowd Density Monitoring and Stampede Prevention System," Atlantis Press Proceedings, 2026.</a:t>
            </a:r>
            <a:endParaRPr sz="1800"/>
          </a:p>
          <a:p>
            <a:pPr indent="0" lvl="0" marL="0" rtl="0" algn="just">
              <a:spcBef>
                <a:spcPts val="0"/>
              </a:spcBef>
              <a:spcAft>
                <a:spcPts val="0"/>
              </a:spcAft>
              <a:buNone/>
            </a:pPr>
            <a:r>
              <a:t/>
            </a:r>
            <a:endParaRPr sz="1800"/>
          </a:p>
          <a:p>
            <a:pPr indent="0" lvl="0" marL="0" rtl="0" algn="just">
              <a:spcBef>
                <a:spcPts val="0"/>
              </a:spcBef>
              <a:spcAft>
                <a:spcPts val="0"/>
              </a:spcAft>
              <a:buNone/>
            </a:pPr>
            <a:r>
              <a:rPr lang="en-US" sz="1800"/>
              <a:t>•	Khan, M. A., Menouar, H., &amp; Hamila, R., "Visual Crowd Analysis: Open Research Problems," arXiv, 2023.</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